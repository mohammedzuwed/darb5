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1"/>
  </p:sldMasterIdLst>
  <p:notesMasterIdLst>
    <p:notesMasterId r:id="rId16"/>
  </p:notesMasterIdLst>
  <p:handoutMasterIdLst>
    <p:handoutMasterId r:id="rId17"/>
  </p:handoutMasterIdLst>
  <p:sldIdLst>
    <p:sldId id="256" r:id="rId2"/>
    <p:sldId id="341" r:id="rId3"/>
    <p:sldId id="344" r:id="rId4"/>
    <p:sldId id="258" r:id="rId5"/>
    <p:sldId id="260" r:id="rId6"/>
    <p:sldId id="261" r:id="rId7"/>
    <p:sldId id="262" r:id="rId8"/>
    <p:sldId id="349" r:id="rId9"/>
    <p:sldId id="345" r:id="rId10"/>
    <p:sldId id="348" r:id="rId11"/>
    <p:sldId id="346" r:id="rId12"/>
    <p:sldId id="263" r:id="rId13"/>
    <p:sldId id="276" r:id="rId14"/>
    <p:sldId id="266" r:id="rId1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90651C3A-4460-11DB-9652-00E08161165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72" autoAdjust="0"/>
    <p:restoredTop sz="93700" autoAdjust="0"/>
  </p:normalViewPr>
  <p:slideViewPr>
    <p:cSldViewPr>
      <p:cViewPr varScale="1">
        <p:scale>
          <a:sx n="82" d="100"/>
          <a:sy n="82" d="100"/>
        </p:scale>
        <p:origin x="-1910" y="-77"/>
      </p:cViewPr>
      <p:guideLst>
        <p:guide orient="horz" pos="2160"/>
        <p:guide pos="2880"/>
      </p:guideLst>
    </p:cSldViewPr>
  </p:slideViewPr>
  <p:notesTextViewPr>
    <p:cViewPr>
      <p:scale>
        <a:sx n="140" d="100"/>
        <a:sy n="14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E6D75C37-3A96-0E47-B586-DBC4DC000A3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  <a:sym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F757C3D1-BD71-1D4E-9BF6-B95E3536EE3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  <a:sym typeface="Arial" charset="0"/>
              </a:defRPr>
            </a:lvl1pPr>
          </a:lstStyle>
          <a:p>
            <a:pPr>
              <a:defRPr/>
            </a:pPr>
            <a:fld id="{D10795F9-FBFB-4668-ACC5-739E34679D46}" type="datetime1">
              <a:rPr lang="en-US"/>
              <a:pPr>
                <a:defRPr/>
              </a:pPr>
              <a:t>4/21/2025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34716EA-D653-534F-A34E-989E7F699A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  <a:sym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3A5EDB8-A282-9D45-8EA4-EDE2BB3BF97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F9A3E137-C753-4600-B88D-D554A3FEFE3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hape 2">
            <a:extLst>
              <a:ext uri="{FF2B5EF4-FFF2-40B4-BE49-F238E27FC236}">
                <a16:creationId xmlns:a16="http://schemas.microsoft.com/office/drawing/2014/main" xmlns="" id="{7813D1EC-37CD-4E99-3B79-55127379EA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00"/>
              <a:gd name="T16" fmla="*/ 0 h 120000"/>
              <a:gd name="T17" fmla="*/ 120000 w 120000"/>
              <a:gd name="T18" fmla="*/ 120000 h 1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3" name="Shape 3">
            <a:extLst>
              <a:ext uri="{FF2B5EF4-FFF2-40B4-BE49-F238E27FC236}">
                <a16:creationId xmlns:a16="http://schemas.microsoft.com/office/drawing/2014/main" xmlns="" id="{74100A33-1C33-1540-89E3-526FA2DD1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 lvl="1"/>
            <a:r>
              <a:rPr lang="en" noProof="0"/>
              <a:t>
</a:t>
            </a:r>
          </a:p>
          <a:p>
            <a:pPr lvl="0"/>
            <a:endParaRPr lang="en" noProof="0"/>
          </a:p>
          <a:p>
            <a:pPr lvl="0"/>
            <a:endParaRPr lang="en" noProof="0"/>
          </a:p>
          <a:p>
            <a:pPr lvl="0"/>
            <a:endParaRPr lang="en" noProof="0"/>
          </a:p>
          <a:p>
            <a:pPr lvl="0"/>
            <a:endParaRPr lang="en" noProof="0"/>
          </a:p>
          <a:p>
            <a:pPr lvl="0"/>
            <a:endParaRPr lang="en" noProof="0"/>
          </a:p>
          <a:p>
            <a:pPr lvl="0"/>
            <a:endParaRPr lang="en" noProof="0"/>
          </a:p>
          <a:p>
            <a:pPr lvl="0"/>
            <a:endParaRPr lang="en" noProof="0"/>
          </a:p>
        </p:txBody>
      </p:sp>
    </p:spTree>
    <p:extLst>
      <p:ext uri="{BB962C8B-B14F-4D97-AF65-F5344CB8AC3E}">
        <p14:creationId xmlns:p14="http://schemas.microsoft.com/office/powerpoint/2010/main" val="2403176677"/>
      </p:ext>
    </p:extLst>
  </p:cSld>
  <p:clrMap bg1="lt1" tx1="dk1" bg2="dk2" tx2="lt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914400" indent="-3175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lient_(computing)" TargetMode="External"/><Relationship Id="rId7" Type="http://schemas.openxmlformats.org/officeDocument/2006/relationships/hyperlink" Target="https://en.wikipedia.org/wiki/Little-endian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Big-endian" TargetMode="External"/><Relationship Id="rId5" Type="http://schemas.openxmlformats.org/officeDocument/2006/relationships/hyperlink" Target="https://en.wikipedia.org/wiki/Address_space" TargetMode="External"/><Relationship Id="rId4" Type="http://schemas.openxmlformats.org/officeDocument/2006/relationships/hyperlink" Target="https://en.wikipedia.org/wiki/Server_(computing)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hape 44">
            <a:extLst>
              <a:ext uri="{FF2B5EF4-FFF2-40B4-BE49-F238E27FC236}">
                <a16:creationId xmlns:a16="http://schemas.microsoft.com/office/drawing/2014/main" xmlns="" id="{0EF2D543-554C-90D9-4695-1B531119F08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17410" name="Shape 45">
            <a:extLst>
              <a:ext uri="{FF2B5EF4-FFF2-40B4-BE49-F238E27FC236}">
                <a16:creationId xmlns:a16="http://schemas.microsoft.com/office/drawing/2014/main" xmlns="" id="{8B80AED9-13DB-061E-CCA4-576D4B9A0CB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>
            <a:extLst>
              <a:ext uri="{FF2B5EF4-FFF2-40B4-BE49-F238E27FC236}">
                <a16:creationId xmlns:a16="http://schemas.microsoft.com/office/drawing/2014/main" xmlns="" id="{FC2ED592-ECA8-B2F0-1459-7082792CAD97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D0EFF12-BD9C-46A2-8F69-D0BC3694BED5}" type="slidenum">
              <a:rPr lang="en-US" altLang="en-US" sz="1300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xmlns="" id="{ADACE20F-2D1E-AFD4-DCF1-61148A568DB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xmlns="" id="{75F98525-4BA0-DB8B-1BB5-FCA7242226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xmlns="" id="{48F974B4-078B-5026-CC34-FC07FCA644D2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38179F3-7478-4544-8524-DE9263C6561D}" type="slidenum">
              <a:rPr lang="en-US" altLang="en-US" sz="1300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3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xmlns="" id="{86BF6B88-2B5C-E794-60E0-2A6E878E2B4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xmlns="" id="{A64EBAC7-11C2-AFC2-9A8D-B004780132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hape 56">
            <a:extLst>
              <a:ext uri="{FF2B5EF4-FFF2-40B4-BE49-F238E27FC236}">
                <a16:creationId xmlns:a16="http://schemas.microsoft.com/office/drawing/2014/main" xmlns="" id="{4CE41C2F-463D-942F-403C-790CDDF36D4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23554" name="Shape 57">
            <a:extLst>
              <a:ext uri="{FF2B5EF4-FFF2-40B4-BE49-F238E27FC236}">
                <a16:creationId xmlns:a16="http://schemas.microsoft.com/office/drawing/2014/main" xmlns="" id="{2E13CBB3-0062-5380-2049-B1F826E9F90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hape 68">
            <a:extLst>
              <a:ext uri="{FF2B5EF4-FFF2-40B4-BE49-F238E27FC236}">
                <a16:creationId xmlns:a16="http://schemas.microsoft.com/office/drawing/2014/main" xmlns="" id="{43FA85EE-185D-3D0D-C072-8AB7C94703C1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25602" name="Shape 69">
            <a:extLst>
              <a:ext uri="{FF2B5EF4-FFF2-40B4-BE49-F238E27FC236}">
                <a16:creationId xmlns:a16="http://schemas.microsoft.com/office/drawing/2014/main" xmlns="" id="{B83576EC-C630-A128-5B77-D90F8606425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hape 74">
            <a:extLst>
              <a:ext uri="{FF2B5EF4-FFF2-40B4-BE49-F238E27FC236}">
                <a16:creationId xmlns:a16="http://schemas.microsoft.com/office/drawing/2014/main" xmlns="" id="{7A136E5E-F48F-151B-DFB1-082C3F6421F6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27650" name="Shape 75">
            <a:extLst>
              <a:ext uri="{FF2B5EF4-FFF2-40B4-BE49-F238E27FC236}">
                <a16:creationId xmlns:a16="http://schemas.microsoft.com/office/drawing/2014/main" xmlns="" id="{53581EF0-DFF5-4272-6990-1913C5EEEF4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hape 80">
            <a:extLst>
              <a:ext uri="{FF2B5EF4-FFF2-40B4-BE49-F238E27FC236}">
                <a16:creationId xmlns:a16="http://schemas.microsoft.com/office/drawing/2014/main" xmlns="" id="{2503D15E-AFAD-CD89-FA57-FFADC9B030AE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29698" name="Shape 81">
            <a:extLst>
              <a:ext uri="{FF2B5EF4-FFF2-40B4-BE49-F238E27FC236}">
                <a16:creationId xmlns:a16="http://schemas.microsoft.com/office/drawing/2014/main" xmlns="" id="{CA42F658-079B-4C2B-BC86-5C4A36DB394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xmlns="" id="{E900E2C8-4EE1-1B3B-F7D2-203BDA6F47CF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4139763-5D12-4F07-86D7-D3E6357D36D9}" type="slidenum">
              <a:rPr lang="en-US" altLang="en-US" sz="1300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8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xmlns="" id="{D4373A96-3BFF-5FF3-F14E-1D7440FCEBE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xmlns="" id="{50FA2228-84E9-A17C-8595-0FA4247365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xmlns="" id="{8C86928B-7B33-E0E3-2ADB-2100E2DCEAB2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1603D55-3E66-4150-8BCE-4765CA8891C8}" type="slidenum">
              <a:rPr lang="en-US" altLang="en-US" sz="1300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9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xmlns="" id="{15BCE5A9-E860-5E73-BB0A-F10234D022A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xmlns="" id="{1C09BDB5-EC92-5565-F32F-49222A2B71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xmlns="" id="{FCBAA078-AFE3-D28C-69B5-A1D94791DD1A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D0EE781-6C98-4D8A-BCCC-E5F99A4B84BE}" type="slidenum">
              <a:rPr lang="en-US" altLang="en-US" sz="1300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10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xmlns="" id="{87CFF7BC-082F-8A89-9509-D5D089A3B7F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xmlns="" id="{8A2EB84D-8120-06D3-4093-9B1655C249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xmlns="" id="{5C68827A-B456-F6EE-AE2A-967470B4E1B3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AA79B26-57DB-4BBC-BA8A-067D0CA58FBD}" type="slidenum">
              <a:rPr lang="en-US" altLang="en-US" sz="1300">
                <a:latin typeface="Times New Roman" panose="02020603050405020304" pitchFamily="18" charset="0"/>
              </a:rPr>
              <a:pPr algn="r" eaLnBrk="1" hangingPunct="1">
                <a:spcBef>
                  <a:spcPct val="0"/>
                </a:spcBef>
              </a:pPr>
              <a:t>11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xmlns="" id="{57577A74-067E-0F7C-AEF4-4394A434BB6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xmlns="" id="{8133A288-9EA7-FB0B-9513-6555BF47BE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hape 86">
            <a:extLst>
              <a:ext uri="{FF2B5EF4-FFF2-40B4-BE49-F238E27FC236}">
                <a16:creationId xmlns:a16="http://schemas.microsoft.com/office/drawing/2014/main" xmlns="" id="{A46586B7-4EE0-9809-B830-23578DC31616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39938" name="Shape 87">
            <a:extLst>
              <a:ext uri="{FF2B5EF4-FFF2-40B4-BE49-F238E27FC236}">
                <a16:creationId xmlns:a16="http://schemas.microsoft.com/office/drawing/2014/main" xmlns="" id="{91AD29B9-1BC2-526C-0E1C-B871F4BF31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hape 98">
            <a:extLst>
              <a:ext uri="{FF2B5EF4-FFF2-40B4-BE49-F238E27FC236}">
                <a16:creationId xmlns:a16="http://schemas.microsoft.com/office/drawing/2014/main" xmlns="" id="{D3853541-B343-7876-F5B2-3F1DBBC4D7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41986" name="Shape 99">
            <a:extLst>
              <a:ext uri="{FF2B5EF4-FFF2-40B4-BE49-F238E27FC236}">
                <a16:creationId xmlns:a16="http://schemas.microsoft.com/office/drawing/2014/main" xmlns="" id="{548F6C90-77D0-E387-38B4-1027237F194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hape 104">
            <a:extLst>
              <a:ext uri="{FF2B5EF4-FFF2-40B4-BE49-F238E27FC236}">
                <a16:creationId xmlns:a16="http://schemas.microsoft.com/office/drawing/2014/main" xmlns="" id="{17FFE1BF-AD72-6F5A-F98C-EF3917FB5EEE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</p:sp>
      <p:sp>
        <p:nvSpPr>
          <p:cNvPr id="44034" name="Shape 105">
            <a:extLst>
              <a:ext uri="{FF2B5EF4-FFF2-40B4-BE49-F238E27FC236}">
                <a16:creationId xmlns:a16="http://schemas.microsoft.com/office/drawing/2014/main" xmlns="" id="{694058D4-BF47-587B-EBF8-5ECE200971B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marL="171450" indent="-171450" eaLnBrk="1" hangingPunct="1">
              <a:spcBef>
                <a:spcPct val="0"/>
              </a:spcBef>
              <a:buFontTx/>
              <a:buChar char="•"/>
            </a:pPr>
            <a:r>
              <a:rPr lang="en-US" altLang="en-US"/>
              <a:t>stub is a piece of code that converts parameters passed between the client and server during a remote procedure call (RPC). </a:t>
            </a:r>
            <a:endParaRPr lang="ar-SA" altLang="en-US"/>
          </a:p>
          <a:p>
            <a:pPr marL="171450" indent="-171450" eaLnBrk="1" hangingPunct="1">
              <a:spcBef>
                <a:spcPct val="0"/>
              </a:spcBef>
              <a:buFontTx/>
              <a:buChar char="•"/>
            </a:pPr>
            <a:r>
              <a:rPr lang="en-US" altLang="en-US"/>
              <a:t>RPC allows a local computer (</a:t>
            </a:r>
            <a:r>
              <a:rPr lang="en-US" altLang="en-US">
                <a:hlinkClick r:id="rId3" tooltip="Client (computing)"/>
              </a:rPr>
              <a:t>client</a:t>
            </a:r>
            <a:r>
              <a:rPr lang="en-US" altLang="en-US"/>
              <a:t>) to invoke procedures on a remote computer (</a:t>
            </a:r>
            <a:r>
              <a:rPr lang="en-US" altLang="en-US">
                <a:hlinkClick r:id="rId4" tooltip="Server (computing)"/>
              </a:rPr>
              <a:t>server</a:t>
            </a:r>
            <a:r>
              <a:rPr lang="en-US" altLang="en-US"/>
              <a:t>). </a:t>
            </a:r>
          </a:p>
          <a:p>
            <a:pPr marL="171450" indent="-171450" eaLnBrk="1" hangingPunct="1">
              <a:spcBef>
                <a:spcPct val="0"/>
              </a:spcBef>
              <a:buFontTx/>
              <a:buChar char="•"/>
            </a:pPr>
            <a:r>
              <a:rPr lang="en-US" altLang="en-US"/>
              <a:t>Client and server have different </a:t>
            </a:r>
            <a:r>
              <a:rPr lang="en-US" altLang="en-US">
                <a:hlinkClick r:id="rId5" tooltip="Address space"/>
              </a:rPr>
              <a:t>address spaces</a:t>
            </a:r>
            <a:r>
              <a:rPr lang="en-US" altLang="en-US"/>
              <a:t>, the parameters used in a function call must be converted. Otherwise, the parameter values would be unusable because pointers to parameters in one computer's memory would reference different data on the other computer. </a:t>
            </a:r>
          </a:p>
          <a:p>
            <a:pPr marL="171450" indent="-171450" eaLnBrk="1" hangingPunct="1">
              <a:spcBef>
                <a:spcPct val="0"/>
              </a:spcBef>
              <a:buFontTx/>
              <a:buChar char="•"/>
            </a:pPr>
            <a:r>
              <a:rPr lang="en-US" altLang="en-US"/>
              <a:t>Also, client and server can have different data representations, even for simple parameters like integers (e.g., </a:t>
            </a:r>
            <a:r>
              <a:rPr lang="en-US" altLang="en-US">
                <a:hlinkClick r:id="rId6" tooltip="Big-endian"/>
              </a:rPr>
              <a:t>big-endian</a:t>
            </a:r>
            <a:r>
              <a:rPr lang="en-US" altLang="en-US"/>
              <a:t> versus </a:t>
            </a:r>
            <a:r>
              <a:rPr lang="en-US" altLang="en-US">
                <a:hlinkClick r:id="rId7" tooltip="Little-endian"/>
              </a:rPr>
              <a:t>little-endian</a:t>
            </a:r>
            <a:r>
              <a:rPr lang="en-US" altLang="en-US"/>
              <a:t>). </a:t>
            </a:r>
          </a:p>
          <a:p>
            <a:pPr marL="171450" indent="-171450" eaLnBrk="1" hangingPunct="1">
              <a:spcBef>
                <a:spcPct val="0"/>
              </a:spcBef>
              <a:buFontTx/>
              <a:buChar char="•"/>
            </a:pPr>
            <a:r>
              <a:rPr lang="en-US" altLang="en-US"/>
              <a:t>Stubs handle parameter conversion, making a remote procedure call look like a local function call to the remote computer. 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/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xmlns="" id="{5DB29156-9C11-3F83-0037-5879B1C4F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22-Apr-12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xmlns="" id="{5EC544B0-D785-66CB-5FF6-B169CDDD09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fld id="{FB07C70E-920E-43E6-B1D1-033CAB882D22}" type="slidenum">
              <a:rPr lang="en-US" altLang="en-US"/>
              <a:pPr/>
              <a:t>‹#›</a:t>
            </a:fld>
            <a:endParaRPr lang="en-US" altLang="en-US" sz="1400">
              <a:solidFill>
                <a:srgbClr val="FFFFFF"/>
              </a:solidFill>
            </a:endParaRPr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xmlns="" id="{A8C8E69F-6729-13E2-748D-D05C05BDA0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52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96B89AD-533F-0FCE-E96B-D6D65FF8F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22-Apr-12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F0070A7-16C9-4071-F690-E8DBF29C9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7734EC8-E26E-49C8-ADE1-CB298259D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fld id="{ADED533E-E1E5-46BC-9395-C6DE2172EB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841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xmlns="" id="{1E5A7C53-123A-7313-7F64-B0E388AECED6}"/>
              </a:ext>
            </a:extLst>
          </p:cNvPr>
          <p:cNvSpPr/>
          <p:nvPr/>
        </p:nvSpPr>
        <p:spPr>
          <a:xfrm>
            <a:off x="4495800" y="3924300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ym typeface="Arial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02CABE72-862F-9A06-B73A-5DFEAE18B062}"/>
              </a:ext>
            </a:extLst>
          </p:cNvPr>
          <p:cNvSpPr/>
          <p:nvPr/>
        </p:nvSpPr>
        <p:spPr>
          <a:xfrm>
            <a:off x="4695825" y="3924300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ym typeface="Arial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CF1722B9-4E74-02B7-70E1-51D4C3D5D55B}"/>
              </a:ext>
            </a:extLst>
          </p:cNvPr>
          <p:cNvSpPr/>
          <p:nvPr/>
        </p:nvSpPr>
        <p:spPr>
          <a:xfrm>
            <a:off x="4297363" y="3924300"/>
            <a:ext cx="84137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ym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xmlns="" id="{0C347B79-90AE-51B8-D8DF-166925752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22-Apr-12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xmlns="" id="{609804AF-193A-F365-22C6-037D487F8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C59A1201-131A-3BB3-FE51-0F52A2C0D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fld id="{9E30D4B0-CB78-4121-A6AD-16DE5A12EFA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5575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xmlns="" id="{E7FA5210-BA04-65D3-07EA-53C7E9CDD52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22-Apr-12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xmlns="" id="{23FB7E45-66ED-86E3-D63A-EAE5AD50D52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xmlns="" id="{0ADF7F0E-7680-DD87-473F-6EBA9BE77C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l">
              <a:defRPr/>
            </a:lvl1pPr>
          </a:lstStyle>
          <a:p>
            <a:fld id="{9B3B101F-9DED-44C6-B988-506BFC3BEFE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1154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xmlns="" id="{3D62703C-0489-6117-4E02-308E891DD41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22-Apr-12</a:t>
            </a:r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xmlns="" id="{6B4EA755-DB31-E8AA-B7F4-FDC2013295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xmlns="" id="{94752D10-052D-60EF-F98A-41E99712C7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fld id="{6CC9EDE3-89EF-493E-89C3-31CB53F8129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3068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99B580F-9A91-13A8-09B0-BFB75DDF6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22-Apr-12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A38DE10-8022-7903-FD65-6D81D7A10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B12AA5E-F10B-E096-2653-7DF7859BF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fld id="{F35EB7DB-415C-4433-B978-1E6D6FAF31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0262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79C7C03A-5A37-1757-D3ED-C725DDE29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22-Apr-12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EA95A3AE-1B47-D5C7-E751-91D92566B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1AA7E0F-8ACB-4C79-179C-B534C21C7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fld id="{C54A92B3-6A81-4BCD-8A7B-CFEDE2DF77A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8788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BDBE391-3B60-4F50-0FB3-88FDF6589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22-Apr-12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6D880F8-07E9-FE3A-AC13-3AA5D696E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C20A494-5A32-0B16-3D48-1501076C8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fld id="{A44C2C6B-868F-4664-9020-F574841620B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1654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15CD620-B3C3-868B-7798-01772B54E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22-Apr-12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FE9EDBE-6A14-3E9E-6CA8-8872042BA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85F5811-6416-DC3D-4AF3-1D739865D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fld id="{4E535D46-DE28-4293-9D9B-6E0617002F7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8868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E6C227C-73E1-8F1A-3B6A-964AB95F2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22-Apr-12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C1A1B61-3D33-8A0F-8B22-51675FF20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E436BFE-E743-D09C-51A5-372154540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fld id="{0CB1BAB5-1D07-4C7F-8331-D91D98168B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2208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5C4FAE6-F34B-8151-F296-90B949343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22-Apr-12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33685C3-4472-A56D-AB7B-EBA17F7AF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07643E8-DC48-F3A6-D11C-C8429DACA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fld id="{6C1D60AD-572A-4170-A9EE-EF8F2AD2F09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36342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69A3151-A306-DF4A-8410-ADDA92152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8C9BB9C-BC78-C541-AFAF-2CF224C5E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F56E73D-E9B3-004C-A9F6-F9B18D96B1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8">
            <a:extLst>
              <a:ext uri="{FF2B5EF4-FFF2-40B4-BE49-F238E27FC236}">
                <a16:creationId xmlns:a16="http://schemas.microsoft.com/office/drawing/2014/main" xmlns="" id="{D8E34E1D-0FF5-E4DC-B851-1F7AC9AB8F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xmlns="" id="{9863D820-2756-9E1F-D593-5E7D649E5C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 CS457/546a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xmlns="" id="{A9477FDA-0916-DE0E-FB47-DE9C2B3F09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736640-454F-49D5-A834-8CE00CC1A96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8781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8FE38B23-87E1-5A4D-9739-4EA0B8998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xmlns="" id="{D467B595-5DBD-5ECF-4355-5D046334B2B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B158E66-74DC-434B-8D96-0B48E67CCC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62700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 eaLnBrk="1" hangingPunct="1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cs typeface="Arial" charset="0"/>
                <a:sym typeface="Arial" charset="0"/>
              </a:defRPr>
            </a:lvl1pPr>
          </a:lstStyle>
          <a:p>
            <a:pPr>
              <a:defRPr/>
            </a:pPr>
            <a:r>
              <a:rPr lang="en-US"/>
              <a:t>22-Apr-12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D848518-8BB4-5942-A7B7-7EAFF06F1A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8813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 eaLnBrk="1" hangingPunct="1">
              <a:defRPr sz="1400">
                <a:solidFill>
                  <a:schemeClr val="tx2"/>
                </a:solidFill>
                <a:latin typeface="Century Gothic" pitchFamily="34" charset="0"/>
                <a:cs typeface="Arial" charset="0"/>
                <a:sym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E9326E8-E804-8A4A-A8E0-FEA12D1A7C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43925" y="6356350"/>
            <a:ext cx="561975" cy="365125"/>
          </a:xfrm>
          <a:prstGeom prst="rect">
            <a:avLst/>
          </a:prstGeom>
        </p:spPr>
        <p:txBody>
          <a:bodyPr vert="horz" wrap="square" lIns="27432" tIns="45720" rIns="4572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595959"/>
                </a:solidFill>
                <a:latin typeface="Century Gothic" panose="020B0502020202020204" pitchFamily="34" charset="0"/>
              </a:defRPr>
            </a:lvl1pPr>
          </a:lstStyle>
          <a:p>
            <a:fld id="{4CBE9797-8BD6-476B-A8B3-14AA6B9494A3}" type="slidenum">
              <a:rPr lang="en-US" altLang="en-US"/>
              <a:pPr/>
              <a:t>‹#›</a:t>
            </a:fld>
            <a:endParaRPr lang="en-US" altLang="en-US" sz="1400">
              <a:solidFill>
                <a:srgbClr val="FFFFFF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406FEBE9-713B-F74F-B53D-05E50FCB4297}"/>
              </a:ext>
            </a:extLst>
          </p:cNvPr>
          <p:cNvSpPr/>
          <p:nvPr/>
        </p:nvSpPr>
        <p:spPr>
          <a:xfrm>
            <a:off x="8458200" y="6499225"/>
            <a:ext cx="84138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>
              <a:sym typeface="Arial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92AA3723-41F0-FB43-BB49-EEE3169D0E40}"/>
              </a:ext>
            </a:extLst>
          </p:cNvPr>
          <p:cNvSpPr/>
          <p:nvPr/>
        </p:nvSpPr>
        <p:spPr>
          <a:xfrm>
            <a:off x="569913" y="6499225"/>
            <a:ext cx="84137" cy="8413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ym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906" r:id="rId3"/>
    <p:sldLayoutId id="2147483907" r:id="rId4"/>
    <p:sldLayoutId id="2147483908" r:id="rId5"/>
    <p:sldLayoutId id="2147483909" r:id="rId6"/>
    <p:sldLayoutId id="2147483910" r:id="rId7"/>
    <p:sldLayoutId id="2147483911" r:id="rId8"/>
    <p:sldLayoutId id="2147483912" r:id="rId9"/>
    <p:sldLayoutId id="2147483913" r:id="rId10"/>
    <p:sldLayoutId id="2147483914" r:id="rId11"/>
    <p:sldLayoutId id="2147483915" r:id="rId12"/>
  </p:sldLayoutIdLst>
  <p:hf hdr="0" ftr="0" dt="0"/>
  <p:txStyles>
    <p:titleStyle>
      <a:lvl1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  <a:lvl2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2pPr>
      <a:lvl3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3pPr>
      <a:lvl4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4pPr>
      <a:lvl5pPr algn="ctr" rtl="0" eaLnBrk="0" fontAlgn="base" hangingPunct="0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5pPr>
      <a:lvl6pPr marL="4572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6pPr>
      <a:lvl7pPr marL="9144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7pPr>
      <a:lvl8pPr marL="13716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8pPr>
      <a:lvl9pPr marL="1828800" algn="ctr" rtl="0" fontAlgn="base">
        <a:lnSpc>
          <a:spcPts val="58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Palatino Linotype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7F7F7F"/>
          </a:solidFill>
          <a:latin typeface="+mj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 sz="1600" kern="1200">
          <a:solidFill>
            <a:srgbClr val="7F7F7F"/>
          </a:solidFill>
          <a:latin typeface="+mj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rgbClr val="7F7F7F"/>
          </a:solidFill>
          <a:latin typeface="+mj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 sz="1600" kern="1200">
          <a:solidFill>
            <a:srgbClr val="7F7F7F"/>
          </a:solidFill>
          <a:latin typeface="+mj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rgbClr val="7F7F7F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ctangle 1">
            <a:extLst>
              <a:ext uri="{FF2B5EF4-FFF2-40B4-BE49-F238E27FC236}">
                <a16:creationId xmlns:a16="http://schemas.microsoft.com/office/drawing/2014/main" xmlns="" id="{CC0700AA-F968-AD04-2B23-7EE3B939480D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" y="825500"/>
            <a:ext cx="7747000" cy="379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Number Placeholder 6">
            <a:extLst>
              <a:ext uri="{FF2B5EF4-FFF2-40B4-BE49-F238E27FC236}">
                <a16:creationId xmlns:a16="http://schemas.microsoft.com/office/drawing/2014/main" xmlns="" id="{6156A7BC-1059-66F0-6F2B-599703E853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7F7F7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0401432B-D778-4E70-95B0-4404405B5655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xmlns="" id="{D2FBE823-793C-3243-BF7B-6EB77F25FE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12750"/>
            <a:ext cx="8229600" cy="914400"/>
          </a:xfrm>
        </p:spPr>
        <p:txBody>
          <a:bodyPr/>
          <a:lstStyle/>
          <a:p>
            <a:pPr>
              <a:defRPr/>
            </a:pPr>
            <a:r>
              <a:rPr lang="en-US" altLang="en-US" sz="4400" dirty="0">
                <a:solidFill>
                  <a:srgbClr val="000000"/>
                </a:solidFill>
                <a:latin typeface="Arial" charset="0"/>
                <a:cs typeface="Arial" charset="0"/>
              </a:rPr>
              <a:t>Middleware Emergence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xmlns="" id="{3BA3F5E1-FC51-C341-BEAF-9513B1FD904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8321675" cy="4495800"/>
          </a:xfrm>
        </p:spPr>
        <p:txBody>
          <a:bodyPr/>
          <a:lstStyle/>
          <a:p>
            <a:pPr>
              <a:buFont typeface="Wingdings" pitchFamily="2" charset="2"/>
              <a:buChar char="ü"/>
              <a:defRPr/>
            </a:pP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</a:rPr>
              <a:t>Distributed computing evolved from single-tier (terminal/mainframe) to 2-tier (client-server)</a:t>
            </a:r>
            <a:b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</a:rPr>
            </a:b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</a:rPr>
              <a:t>to n-tier architecture</a:t>
            </a:r>
            <a:r>
              <a:rPr lang="ar-SA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</a:rPr>
              <a:t> 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</a:rPr>
              <a:t>(separates processing to different servers)</a:t>
            </a:r>
            <a:r>
              <a:rPr lang="ar-SA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</a:rPr>
              <a:t> </a:t>
            </a:r>
            <a:endParaRPr lang="en-US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charset="0"/>
              <a:cs typeface="Arial" charset="0"/>
            </a:endParaRPr>
          </a:p>
          <a:p>
            <a:pPr>
              <a:buFont typeface="Wingdings" pitchFamily="2" charset="2"/>
              <a:buChar char="ü"/>
              <a:defRPr/>
            </a:pPr>
            <a:endParaRPr lang="en-US" altLang="en-US" dirty="0"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ü"/>
              <a:defRPr/>
            </a:pP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</a:rPr>
              <a:t>To support heterogeneous environments open networking standards were introduced (i.e. OSI)</a:t>
            </a:r>
            <a:b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</a:rPr>
            </a:br>
            <a:endParaRPr lang="en-US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charset="0"/>
              <a:cs typeface="Arial" charset="0"/>
            </a:endParaRPr>
          </a:p>
          <a:p>
            <a:pPr>
              <a:buFont typeface="Wingdings" pitchFamily="2" charset="2"/>
              <a:buChar char="ü"/>
              <a:defRPr/>
            </a:pP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</a:rPr>
              <a:t>How do we build/connect applications over a network?</a:t>
            </a:r>
            <a:b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</a:rPr>
            </a:br>
            <a:endParaRPr lang="en-US" altLang="en-US" dirty="0">
              <a:solidFill>
                <a:schemeClr val="tx1">
                  <a:lumMod val="65000"/>
                  <a:lumOff val="35000"/>
                </a:schemeClr>
              </a:solidFill>
              <a:latin typeface="Arial" charset="0"/>
              <a:cs typeface="Arial" charset="0"/>
            </a:endParaRPr>
          </a:p>
          <a:p>
            <a:pPr>
              <a:buFont typeface="Wingdings" pitchFamily="2" charset="2"/>
              <a:buChar char="ü"/>
              <a:defRPr/>
            </a:pP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</a:rPr>
              <a:t>Answer: middleware</a:t>
            </a:r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Number Placeholder 5">
            <a:extLst>
              <a:ext uri="{FF2B5EF4-FFF2-40B4-BE49-F238E27FC236}">
                <a16:creationId xmlns:a16="http://schemas.microsoft.com/office/drawing/2014/main" xmlns="" id="{C8765DEE-B015-5422-BF7C-A31AA9EEF5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7F7F7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EE15BC43-C741-4D09-A8CC-8E37F7B9A312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xmlns="" id="{613EE0B3-5CA9-9940-BD9D-76A293E2C3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4400" dirty="0">
                <a:solidFill>
                  <a:srgbClr val="000000"/>
                </a:solidFill>
                <a:latin typeface="Arial" charset="0"/>
                <a:cs typeface="Arial" charset="0"/>
              </a:rPr>
              <a:t>N-tier architecture</a:t>
            </a:r>
          </a:p>
        </p:txBody>
      </p:sp>
      <p:sp>
        <p:nvSpPr>
          <p:cNvPr id="6147" name="Rectangle 5">
            <a:extLst>
              <a:ext uri="{FF2B5EF4-FFF2-40B4-BE49-F238E27FC236}">
                <a16:creationId xmlns:a16="http://schemas.microsoft.com/office/drawing/2014/main" xmlns="" id="{42B9074F-DF70-464C-A91F-311DAF9746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Char char="ü"/>
              <a:defRPr/>
            </a:pP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</a:rPr>
              <a:t>More scalable architecture that separates processing to different servers</a:t>
            </a:r>
          </a:p>
        </p:txBody>
      </p:sp>
      <p:pic>
        <p:nvPicPr>
          <p:cNvPr id="20484" name="Picture 6" descr="appserv">
            <a:extLst>
              <a:ext uri="{FF2B5EF4-FFF2-40B4-BE49-F238E27FC236}">
                <a16:creationId xmlns:a16="http://schemas.microsoft.com/office/drawing/2014/main" xmlns="" id="{8053751B-644A-5D16-E0E3-348655A8A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150" y="2068513"/>
            <a:ext cx="4210050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Shape 54">
            <a:extLst>
              <a:ext uri="{FF2B5EF4-FFF2-40B4-BE49-F238E27FC236}">
                <a16:creationId xmlns:a16="http://schemas.microsoft.com/office/drawing/2014/main" xmlns="" id="{10B9A0E5-A795-D347-A2CB-4889166F56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500856"/>
            <a:ext cx="7772400" cy="769938"/>
          </a:xfrm>
        </p:spPr>
        <p:txBody>
          <a:bodyPr>
            <a:spAutoFit/>
          </a:bodyPr>
          <a:lstStyle/>
          <a:p>
            <a:pPr algn="l" eaLnBrk="1" fontAlgn="auto" hangingPunct="1"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4400" dirty="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rPr>
              <a:t>  Introduction </a:t>
            </a:r>
          </a:p>
        </p:txBody>
      </p:sp>
      <p:sp>
        <p:nvSpPr>
          <p:cNvPr id="5122" name="Shape 53">
            <a:extLst>
              <a:ext uri="{FF2B5EF4-FFF2-40B4-BE49-F238E27FC236}">
                <a16:creationId xmlns:a16="http://schemas.microsoft.com/office/drawing/2014/main" xmlns="" id="{8621FD56-B2E5-EB45-8374-D7B7BB25D1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1447800"/>
            <a:ext cx="8001000" cy="4524375"/>
          </a:xfrm>
        </p:spPr>
        <p:txBody>
          <a:bodyPr rtlCol="0">
            <a:spAutoFit/>
          </a:bodyPr>
          <a:lstStyle/>
          <a:p>
            <a:pPr marL="457200" indent="-457200" algn="just" eaLnBrk="1" fontAlgn="auto" hangingPunct="1">
              <a:spcBef>
                <a:spcPct val="0"/>
              </a:spcBef>
              <a:buClr>
                <a:srgbClr val="666666"/>
              </a:buClr>
              <a:buFont typeface="Wingdings" pitchFamily="2" charset="2"/>
              <a:buChar char="ü"/>
              <a:defRPr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  <a:sym typeface="Arial" charset="0"/>
              </a:rPr>
              <a:t>Middleware is computer software that connects distributed software components or applications. </a:t>
            </a:r>
            <a:endParaRPr lang="ar-SA" dirty="0">
              <a:solidFill>
                <a:schemeClr val="tx1">
                  <a:lumMod val="65000"/>
                  <a:lumOff val="35000"/>
                </a:schemeClr>
              </a:solidFill>
              <a:latin typeface="Arial" charset="0"/>
              <a:cs typeface="Arial" charset="0"/>
              <a:sym typeface="Arial" charset="0"/>
            </a:endParaRPr>
          </a:p>
          <a:p>
            <a:pPr marL="457200" indent="-457200" algn="just" eaLnBrk="1" fontAlgn="auto" hangingPunct="1">
              <a:spcBef>
                <a:spcPct val="0"/>
              </a:spcBef>
              <a:buClr>
                <a:srgbClr val="666666"/>
              </a:buClr>
              <a:buFont typeface="Wingdings" pitchFamily="2" charset="2"/>
              <a:buChar char="ü"/>
              <a:defRPr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charset="0"/>
              <a:cs typeface="Arial" charset="0"/>
              <a:sym typeface="Arial" charset="0"/>
            </a:endParaRPr>
          </a:p>
          <a:p>
            <a:pPr marL="457200" indent="-457200" algn="just" eaLnBrk="1" fontAlgn="auto" hangingPunct="1">
              <a:spcBef>
                <a:spcPct val="0"/>
              </a:spcBef>
              <a:buClr>
                <a:srgbClr val="666666"/>
              </a:buClr>
              <a:buFont typeface="Wingdings" pitchFamily="2" charset="2"/>
              <a:buChar char="ü"/>
              <a:defRPr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  <a:sym typeface="Arial" charset="0"/>
              </a:rPr>
              <a:t>The distributed software consist of a set of services that allows multiple processes running on multiple machines to interact across a network. </a:t>
            </a:r>
          </a:p>
          <a:p>
            <a:pPr marL="457200" indent="-457200" algn="just" eaLnBrk="1" fontAlgn="auto" hangingPunct="1">
              <a:spcBef>
                <a:spcPct val="0"/>
              </a:spcBef>
              <a:buClr>
                <a:srgbClr val="666666"/>
              </a:buClr>
              <a:buFont typeface="Wingdings" pitchFamily="2" charset="2"/>
              <a:buChar char="ü"/>
              <a:defRPr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charset="0"/>
              <a:cs typeface="Arial" charset="0"/>
              <a:sym typeface="Arial" charset="0"/>
            </a:endParaRPr>
          </a:p>
          <a:p>
            <a:pPr marL="457200" indent="-457200" algn="just" eaLnBrk="1" fontAlgn="auto" hangingPunct="1">
              <a:spcBef>
                <a:spcPct val="0"/>
              </a:spcBef>
              <a:buClr>
                <a:srgbClr val="666666"/>
              </a:buClr>
              <a:buFont typeface="Wingdings" pitchFamily="2" charset="2"/>
              <a:buChar char="ü"/>
              <a:defRPr/>
            </a:pP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</a:rPr>
              <a:t>Middleware shields the developer from dependencies on Network Protocols, OS and hardware platforms.</a:t>
            </a:r>
            <a:endParaRPr lang="ar-SA" dirty="0">
              <a:solidFill>
                <a:schemeClr val="tx1">
                  <a:lumMod val="65000"/>
                  <a:lumOff val="35000"/>
                </a:schemeClr>
              </a:solidFill>
              <a:latin typeface="Arial" charset="0"/>
              <a:cs typeface="Arial" charset="0"/>
              <a:sym typeface="Arial" charset="0"/>
            </a:endParaRPr>
          </a:p>
          <a:p>
            <a:pPr marL="457200" indent="-457200" algn="just" eaLnBrk="1" fontAlgn="auto" hangingPunct="1">
              <a:spcBef>
                <a:spcPct val="0"/>
              </a:spcBef>
              <a:buClr>
                <a:srgbClr val="666666"/>
              </a:buClr>
              <a:buFont typeface="Wingdings" pitchFamily="2" charset="2"/>
              <a:buChar char="ü"/>
              <a:defRPr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charset="0"/>
              <a:cs typeface="Arial" charset="0"/>
              <a:sym typeface="Arial" charset="0"/>
            </a:endParaRPr>
          </a:p>
          <a:p>
            <a:pPr marL="457200" indent="-457200" algn="just" eaLnBrk="1" fontAlgn="auto" hangingPunct="1">
              <a:spcBef>
                <a:spcPct val="0"/>
              </a:spcBef>
              <a:buClr>
                <a:srgbClr val="666666"/>
              </a:buClr>
              <a:buFont typeface="Wingdings" pitchFamily="2" charset="2"/>
              <a:buChar char="ü"/>
              <a:defRPr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  <a:sym typeface="Arial" charset="0"/>
              </a:rPr>
              <a:t>Middleware sits “in the middle” between application software working on different Operating Systems.</a:t>
            </a:r>
          </a:p>
        </p:txBody>
      </p:sp>
      <p:sp>
        <p:nvSpPr>
          <p:cNvPr id="22531" name="Slide Number Placeholder 1">
            <a:extLst>
              <a:ext uri="{FF2B5EF4-FFF2-40B4-BE49-F238E27FC236}">
                <a16:creationId xmlns:a16="http://schemas.microsoft.com/office/drawing/2014/main" xmlns="" id="{DADBFF13-AE62-D07A-578B-9AD2ABB50F5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7F7F7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CB2E9D6-EDC4-42AD-9A28-EC11E6347483}" type="slidenum">
              <a:rPr lang="en-US" altLang="en-US" sz="1200">
                <a:solidFill>
                  <a:srgbClr val="595959"/>
                </a:solidFill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hape 66">
            <a:extLst>
              <a:ext uri="{FF2B5EF4-FFF2-40B4-BE49-F238E27FC236}">
                <a16:creationId xmlns:a16="http://schemas.microsoft.com/office/drawing/2014/main" xmlns="" id="{2D579163-2D5D-CF4C-9FA9-02AAC0CBE6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625475"/>
            <a:ext cx="7772400" cy="769938"/>
          </a:xfrm>
        </p:spPr>
        <p:txBody>
          <a:bodyPr>
            <a:spAutoFit/>
          </a:bodyPr>
          <a:lstStyle/>
          <a:p>
            <a:pPr algn="l" eaLnBrk="1" fontAlgn="auto" hangingPunct="1"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4400" dirty="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rPr>
              <a:t> Need of Middleware </a:t>
            </a:r>
          </a:p>
        </p:txBody>
      </p:sp>
      <p:sp>
        <p:nvSpPr>
          <p:cNvPr id="7170" name="Shape 65">
            <a:extLst>
              <a:ext uri="{FF2B5EF4-FFF2-40B4-BE49-F238E27FC236}">
                <a16:creationId xmlns:a16="http://schemas.microsoft.com/office/drawing/2014/main" xmlns="" id="{7DB5B833-8903-D147-AF06-75D4B3EF83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752600"/>
            <a:ext cx="7772400" cy="3786188"/>
          </a:xfrm>
        </p:spPr>
        <p:txBody>
          <a:bodyPr rtlCol="0">
            <a:spAutoFit/>
          </a:bodyPr>
          <a:lstStyle/>
          <a:p>
            <a:pPr marL="514350" indent="-514350" algn="just" eaLnBrk="1" fontAlgn="auto" hangingPunct="1">
              <a:spcBef>
                <a:spcPct val="0"/>
              </a:spcBef>
              <a:buClr>
                <a:srgbClr val="666666"/>
              </a:buClr>
              <a:buFontTx/>
              <a:buAutoNum type="arabicPeriod"/>
              <a:defRPr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  <a:sym typeface="Arial" charset="0"/>
              </a:rPr>
              <a:t>Middleware reduces application development and maintenance efforts.</a:t>
            </a:r>
          </a:p>
          <a:p>
            <a:pPr marL="514350" indent="-514350" algn="just" eaLnBrk="1" fontAlgn="auto" hangingPunct="1">
              <a:spcBef>
                <a:spcPct val="0"/>
              </a:spcBef>
              <a:buClr>
                <a:srgbClr val="666666"/>
              </a:buClr>
              <a:buFontTx/>
              <a:buAutoNum type="arabicPeriod"/>
              <a:defRPr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charset="0"/>
              <a:cs typeface="Arial" charset="0"/>
              <a:sym typeface="Arial" charset="0"/>
            </a:endParaRPr>
          </a:p>
          <a:p>
            <a:pPr marL="514350" indent="-514350" algn="just" eaLnBrk="1" fontAlgn="auto" hangingPunct="1">
              <a:spcBef>
                <a:spcPct val="0"/>
              </a:spcBef>
              <a:buClr>
                <a:srgbClr val="666666"/>
              </a:buClr>
              <a:buFontTx/>
              <a:buAutoNum type="arabicPeriod"/>
              <a:defRPr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  <a:sym typeface="Arial" charset="0"/>
              </a:rPr>
              <a:t>Middleware provides distributed computing.</a:t>
            </a:r>
          </a:p>
          <a:p>
            <a:pPr marL="514350" indent="-514350" algn="just" eaLnBrk="1" fontAlgn="auto" hangingPunct="1">
              <a:spcBef>
                <a:spcPct val="0"/>
              </a:spcBef>
              <a:buClr>
                <a:srgbClr val="666666"/>
              </a:buClr>
              <a:buFontTx/>
              <a:buAutoNum type="arabicPeriod"/>
              <a:defRPr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charset="0"/>
              <a:cs typeface="Arial" charset="0"/>
              <a:sym typeface="Arial" charset="0"/>
            </a:endParaRPr>
          </a:p>
          <a:p>
            <a:pPr marL="514350" indent="-514350" algn="just" eaLnBrk="1" fontAlgn="auto" hangingPunct="1">
              <a:spcBef>
                <a:spcPct val="0"/>
              </a:spcBef>
              <a:buClr>
                <a:srgbClr val="666666"/>
              </a:buClr>
              <a:buFontTx/>
              <a:buAutoNum type="arabicPeriod"/>
              <a:defRPr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  <a:sym typeface="Arial" charset="0"/>
              </a:rPr>
              <a:t>Distributed application without middleware are impractical.</a:t>
            </a:r>
          </a:p>
          <a:p>
            <a:pPr marL="514350" indent="-514350" algn="just" eaLnBrk="1" fontAlgn="auto" hangingPunct="1">
              <a:spcBef>
                <a:spcPct val="0"/>
              </a:spcBef>
              <a:buClr>
                <a:srgbClr val="666666"/>
              </a:buClr>
              <a:buFontTx/>
              <a:buAutoNum type="arabicPeriod"/>
              <a:defRPr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charset="0"/>
              <a:cs typeface="Arial" charset="0"/>
              <a:sym typeface="Arial" charset="0"/>
            </a:endParaRPr>
          </a:p>
          <a:p>
            <a:pPr marL="514350" indent="-514350" algn="just" eaLnBrk="1" fontAlgn="auto" hangingPunct="1">
              <a:spcBef>
                <a:spcPct val="0"/>
              </a:spcBef>
              <a:buClr>
                <a:srgbClr val="666666"/>
              </a:buClr>
              <a:buFontTx/>
              <a:buNone/>
              <a:defRPr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charset="0"/>
              <a:cs typeface="Arial" charset="0"/>
              <a:sym typeface="Arial" charset="0"/>
            </a:endParaRPr>
          </a:p>
          <a:p>
            <a:pPr marL="514350" indent="-514350" algn="just" eaLnBrk="1" fontAlgn="auto" hangingPunct="1">
              <a:spcBef>
                <a:spcPct val="0"/>
              </a:spcBef>
              <a:buClr>
                <a:srgbClr val="666666"/>
              </a:buClr>
              <a:buFontTx/>
              <a:buAutoNum type="arabicPeriod"/>
              <a:defRPr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24579" name="Slide Number Placeholder 1">
            <a:extLst>
              <a:ext uri="{FF2B5EF4-FFF2-40B4-BE49-F238E27FC236}">
                <a16:creationId xmlns:a16="http://schemas.microsoft.com/office/drawing/2014/main" xmlns="" id="{E7DAFD6E-5C8F-6B68-CDE0-C906577EE94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7F7F7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5A159E0-7C02-4825-9316-3674EAA1AA8A}" type="slidenum">
              <a:rPr lang="en-US" altLang="en-US" sz="1200">
                <a:solidFill>
                  <a:srgbClr val="595959"/>
                </a:solidFill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Shape 72">
            <a:extLst>
              <a:ext uri="{FF2B5EF4-FFF2-40B4-BE49-F238E27FC236}">
                <a16:creationId xmlns:a16="http://schemas.microsoft.com/office/drawing/2014/main" xmlns="" id="{F0A85A7A-E528-3646-9A89-D79BB5DBE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625475"/>
            <a:ext cx="7772400" cy="769938"/>
          </a:xfrm>
        </p:spPr>
        <p:txBody>
          <a:bodyPr>
            <a:spAutoFit/>
          </a:bodyPr>
          <a:lstStyle/>
          <a:p>
            <a:pPr algn="l" eaLnBrk="1" fontAlgn="auto" hangingPunct="1"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4400" dirty="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rPr>
              <a:t>Middleware Basics </a:t>
            </a:r>
          </a:p>
        </p:txBody>
      </p:sp>
      <p:sp>
        <p:nvSpPr>
          <p:cNvPr id="8194" name="Shape 71">
            <a:extLst>
              <a:ext uri="{FF2B5EF4-FFF2-40B4-BE49-F238E27FC236}">
                <a16:creationId xmlns:a16="http://schemas.microsoft.com/office/drawing/2014/main" xmlns="" id="{DF9961D9-D6A9-114B-8757-F3DF34D13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1295400"/>
            <a:ext cx="8458200" cy="4044950"/>
          </a:xfrm>
        </p:spPr>
        <p:txBody>
          <a:bodyPr rtlCol="0">
            <a:spAutoFit/>
          </a:bodyPr>
          <a:lstStyle/>
          <a:p>
            <a:pPr algn="just" eaLnBrk="1" fontAlgn="auto" hangingPunct="1">
              <a:spcBef>
                <a:spcPct val="0"/>
              </a:spcBef>
              <a:buClr>
                <a:srgbClr val="666666"/>
              </a:buClr>
              <a:defRPr/>
            </a:pPr>
            <a:r>
              <a:rPr lang="en-IN" sz="2800" dirty="0">
                <a:solidFill>
                  <a:srgbClr val="666666"/>
                </a:solidFill>
                <a:latin typeface="Arial" pitchFamily="34" charset="0"/>
                <a:cs typeface="Arial" pitchFamily="34" charset="0"/>
                <a:sym typeface="Arial" charset="0"/>
              </a:rPr>
              <a:t>	</a:t>
            </a:r>
            <a:r>
              <a:rPr lang="en-IN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  <a:sym typeface="Arial" charset="0"/>
              </a:rPr>
              <a:t>Middleware are sets of distributed </a:t>
            </a:r>
            <a:r>
              <a:rPr 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software that provides </a:t>
            </a:r>
            <a:r>
              <a:rPr lang="en-IN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functionality</a:t>
            </a:r>
            <a:r>
              <a:rPr 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 beyond that provided by the operating system to enable the components of  distributed system to communicate and manage data</a:t>
            </a:r>
            <a:r>
              <a:rPr lang="en-IN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  <a:sym typeface="Arial" charset="0"/>
              </a:rPr>
              <a:t>.</a:t>
            </a:r>
            <a:r>
              <a:rPr 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This increased </a:t>
            </a:r>
            <a:r>
              <a:rPr lang="en-IN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functionality allow applications to:</a:t>
            </a:r>
          </a:p>
          <a:p>
            <a:pPr marL="457200" indent="-457200" algn="just" eaLnBrk="1" fontAlgn="auto" hangingPunct="1"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IN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Locate transparently across the network. </a:t>
            </a:r>
          </a:p>
          <a:p>
            <a:pPr marL="457200" indent="-457200" algn="just" eaLnBrk="1" fontAlgn="auto" hangingPunct="1"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IN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Be independent from network services.</a:t>
            </a:r>
          </a:p>
          <a:p>
            <a:pPr marL="457200" indent="-457200" algn="just" eaLnBrk="1" fontAlgn="auto" hangingPunct="1"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Be reliable and available.</a:t>
            </a:r>
          </a:p>
          <a:p>
            <a:pPr marL="457200" indent="-457200" algn="just" eaLnBrk="1" fontAlgn="auto" hangingPunct="1"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IN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Scale up in capacity without losing functionality.</a:t>
            </a:r>
            <a:endParaRPr lang="en-US" sz="2600" dirty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  <a:sym typeface="Arial" charset="0"/>
            </a:endParaRPr>
          </a:p>
        </p:txBody>
      </p:sp>
      <p:sp>
        <p:nvSpPr>
          <p:cNvPr id="26627" name="Slide Number Placeholder 1">
            <a:extLst>
              <a:ext uri="{FF2B5EF4-FFF2-40B4-BE49-F238E27FC236}">
                <a16:creationId xmlns:a16="http://schemas.microsoft.com/office/drawing/2014/main" xmlns="" id="{6313AFCA-843D-7BB5-52D2-E4078459EA0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7F7F7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6E0F456-0E24-4B11-9078-E3D7EEAC0A3D}" type="slidenum">
              <a:rPr lang="en-US" altLang="en-US" sz="1200">
                <a:solidFill>
                  <a:srgbClr val="595959"/>
                </a:solidFill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Shape 78">
            <a:extLst>
              <a:ext uri="{FF2B5EF4-FFF2-40B4-BE49-F238E27FC236}">
                <a16:creationId xmlns:a16="http://schemas.microsoft.com/office/drawing/2014/main" xmlns="" id="{20AB4DD0-1C43-AA4D-8F14-EE296BAD4D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900" y="533400"/>
            <a:ext cx="8458200" cy="769938"/>
          </a:xfrm>
        </p:spPr>
        <p:txBody>
          <a:bodyPr>
            <a:spAutoFit/>
          </a:bodyPr>
          <a:lstStyle/>
          <a:p>
            <a:pPr algn="l" eaLnBrk="1" fontAlgn="auto" hangingPunct="1"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4400" dirty="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rPr>
              <a:t>Categories of Middleware </a:t>
            </a:r>
            <a:endParaRPr lang="en-US" sz="4300" dirty="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9218" name="Shape 77">
            <a:extLst>
              <a:ext uri="{FF2B5EF4-FFF2-40B4-BE49-F238E27FC236}">
                <a16:creationId xmlns:a16="http://schemas.microsoft.com/office/drawing/2014/main" xmlns="" id="{BF535B59-C87A-0746-88C6-46C50DCD87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" y="1447800"/>
            <a:ext cx="8953500" cy="5662613"/>
          </a:xfrm>
        </p:spPr>
        <p:txBody>
          <a:bodyPr rtlCol="0">
            <a:spAutoFit/>
          </a:bodyPr>
          <a:lstStyle/>
          <a:p>
            <a:pPr algn="just" eaLnBrk="1" fontAlgn="auto" hangingPunct="1">
              <a:spcBef>
                <a:spcPct val="0"/>
              </a:spcBef>
              <a:buClr>
                <a:srgbClr val="666666"/>
              </a:buClr>
              <a:buFontTx/>
              <a:buNone/>
              <a:defRPr/>
            </a:pPr>
            <a:r>
              <a:rPr lang="en-IN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  <a:sym typeface="Arial" charset="0"/>
              </a:rPr>
              <a:t>There are different kinds of middleware, they are:</a:t>
            </a:r>
          </a:p>
          <a:p>
            <a:pPr algn="just" eaLnBrk="1" fontAlgn="auto" hangingPunct="1">
              <a:spcBef>
                <a:spcPct val="0"/>
              </a:spcBef>
              <a:buClr>
                <a:srgbClr val="666666"/>
              </a:buClr>
              <a:buFontTx/>
              <a:buNone/>
              <a:defRPr/>
            </a:pPr>
            <a:endParaRPr lang="en-IN" dirty="0">
              <a:solidFill>
                <a:schemeClr val="tx1">
                  <a:lumMod val="65000"/>
                  <a:lumOff val="35000"/>
                </a:schemeClr>
              </a:solidFill>
              <a:latin typeface="Arial" charset="0"/>
              <a:cs typeface="Arial" charset="0"/>
              <a:sym typeface="Arial" charset="0"/>
            </a:endParaRPr>
          </a:p>
          <a:p>
            <a:pPr algn="l" eaLnBrk="1" fontAlgn="auto" hangingPunct="1">
              <a:spcBef>
                <a:spcPct val="0"/>
              </a:spcBef>
              <a:buClr>
                <a:srgbClr val="666666"/>
              </a:buClr>
              <a:buFontTx/>
              <a:buAutoNum type="arabicPeriod"/>
              <a:defRPr/>
            </a:pPr>
            <a:r>
              <a:rPr lang="en-IN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  <a:sym typeface="Arial" charset="0"/>
              </a:rPr>
              <a:t> </a:t>
            </a:r>
            <a:r>
              <a:rPr lang="en-IN" sz="2600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  <a:sym typeface="Arial" charset="0"/>
              </a:rPr>
              <a:t>T</a:t>
            </a:r>
            <a:r>
              <a:rPr lang="en-IN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  <a:sym typeface="Arial" charset="0"/>
              </a:rPr>
              <a:t>ransaction </a:t>
            </a:r>
            <a:r>
              <a:rPr lang="en-IN" sz="2600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  <a:sym typeface="Arial" charset="0"/>
              </a:rPr>
              <a:t>P</a:t>
            </a:r>
            <a:r>
              <a:rPr lang="en-IN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  <a:sym typeface="Arial" charset="0"/>
              </a:rPr>
              <a:t>rocessing (TP) Monitor Technology.</a:t>
            </a:r>
          </a:p>
          <a:p>
            <a:pPr algn="l" eaLnBrk="1" fontAlgn="auto" hangingPunct="1">
              <a:spcBef>
                <a:spcPct val="0"/>
              </a:spcBef>
              <a:buClr>
                <a:srgbClr val="666666"/>
              </a:buClr>
              <a:buFontTx/>
              <a:buAutoNum type="arabicPeriod"/>
              <a:defRPr/>
            </a:pPr>
            <a:endParaRPr lang="en-IN" sz="2600" dirty="0">
              <a:solidFill>
                <a:schemeClr val="tx1">
                  <a:lumMod val="65000"/>
                  <a:lumOff val="35000"/>
                </a:schemeClr>
              </a:solidFill>
              <a:latin typeface="Arial" charset="0"/>
              <a:cs typeface="Arial" charset="0"/>
              <a:sym typeface="Arial" charset="0"/>
            </a:endParaRPr>
          </a:p>
          <a:p>
            <a:pPr algn="l" eaLnBrk="1" fontAlgn="auto" hangingPunct="1">
              <a:spcBef>
                <a:spcPct val="0"/>
              </a:spcBef>
              <a:buClr>
                <a:srgbClr val="666666"/>
              </a:buClr>
              <a:buFontTx/>
              <a:buAutoNum type="arabicPeriod"/>
              <a:defRPr/>
            </a:pPr>
            <a:r>
              <a:rPr lang="en-IN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  <a:sym typeface="Arial" charset="0"/>
              </a:rPr>
              <a:t> </a:t>
            </a:r>
            <a:r>
              <a:rPr lang="en-IN" sz="2600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  <a:sym typeface="Arial" charset="0"/>
              </a:rPr>
              <a:t>M</a:t>
            </a:r>
            <a:r>
              <a:rPr lang="en-IN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  <a:sym typeface="Arial" charset="0"/>
              </a:rPr>
              <a:t>essage </a:t>
            </a:r>
            <a:r>
              <a:rPr lang="en-IN" sz="2600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  <a:sym typeface="Arial" charset="0"/>
              </a:rPr>
              <a:t>O</a:t>
            </a:r>
            <a:r>
              <a:rPr lang="en-IN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  <a:sym typeface="Arial" charset="0"/>
              </a:rPr>
              <a:t>riented </a:t>
            </a:r>
            <a:r>
              <a:rPr lang="en-IN" sz="2600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  <a:sym typeface="Arial" charset="0"/>
              </a:rPr>
              <a:t>M</a:t>
            </a:r>
            <a:r>
              <a:rPr lang="en-IN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  <a:sym typeface="Arial" charset="0"/>
              </a:rPr>
              <a:t>iddleware (MOM).</a:t>
            </a:r>
          </a:p>
          <a:p>
            <a:pPr algn="l" eaLnBrk="1" fontAlgn="auto" hangingPunct="1">
              <a:spcBef>
                <a:spcPct val="0"/>
              </a:spcBef>
              <a:buClr>
                <a:srgbClr val="666666"/>
              </a:buClr>
              <a:buFontTx/>
              <a:buAutoNum type="arabicPeriod"/>
              <a:defRPr/>
            </a:pPr>
            <a:endParaRPr lang="en-IN" sz="2600" dirty="0">
              <a:solidFill>
                <a:schemeClr val="tx1">
                  <a:lumMod val="65000"/>
                  <a:lumOff val="35000"/>
                </a:schemeClr>
              </a:solidFill>
              <a:latin typeface="Arial" charset="0"/>
              <a:cs typeface="Arial" charset="0"/>
              <a:sym typeface="Arial" charset="0"/>
            </a:endParaRPr>
          </a:p>
          <a:p>
            <a:pPr algn="l" eaLnBrk="1" fontAlgn="auto" hangingPunct="1">
              <a:spcBef>
                <a:spcPct val="0"/>
              </a:spcBef>
              <a:buClr>
                <a:srgbClr val="666666"/>
              </a:buClr>
              <a:buFontTx/>
              <a:buAutoNum type="arabicPeriod"/>
              <a:defRPr/>
            </a:pPr>
            <a:r>
              <a:rPr lang="en-IN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  <a:sym typeface="Arial" charset="0"/>
              </a:rPr>
              <a:t> </a:t>
            </a:r>
            <a:r>
              <a:rPr lang="en-IN" sz="2600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  <a:sym typeface="Arial" charset="0"/>
              </a:rPr>
              <a:t>R</a:t>
            </a:r>
            <a:r>
              <a:rPr lang="en-IN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  <a:sym typeface="Arial" charset="0"/>
              </a:rPr>
              <a:t>emote </a:t>
            </a:r>
            <a:r>
              <a:rPr lang="en-IN" sz="2600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  <a:sym typeface="Arial" charset="0"/>
              </a:rPr>
              <a:t>P</a:t>
            </a:r>
            <a:r>
              <a:rPr lang="en-IN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  <a:sym typeface="Arial" charset="0"/>
              </a:rPr>
              <a:t>rocedure </a:t>
            </a:r>
            <a:r>
              <a:rPr lang="en-IN" sz="2600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  <a:sym typeface="Arial" charset="0"/>
              </a:rPr>
              <a:t>C</a:t>
            </a:r>
            <a:r>
              <a:rPr lang="en-IN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  <a:sym typeface="Arial" charset="0"/>
              </a:rPr>
              <a:t>all (RPC).</a:t>
            </a:r>
          </a:p>
          <a:p>
            <a:pPr algn="l" eaLnBrk="1" fontAlgn="auto" hangingPunct="1">
              <a:spcBef>
                <a:spcPct val="0"/>
              </a:spcBef>
              <a:buClr>
                <a:srgbClr val="666666"/>
              </a:buClr>
              <a:buFontTx/>
              <a:buAutoNum type="arabicPeriod"/>
              <a:defRPr/>
            </a:pPr>
            <a:endParaRPr lang="en-US" altLang="en-US" sz="2600" dirty="0">
              <a:solidFill>
                <a:schemeClr val="tx1">
                  <a:lumMod val="65000"/>
                  <a:lumOff val="35000"/>
                </a:schemeClr>
              </a:solidFill>
              <a:latin typeface="Arial" charset="0"/>
              <a:cs typeface="Arial" charset="0"/>
            </a:endParaRPr>
          </a:p>
          <a:p>
            <a:pPr algn="l" eaLnBrk="1" fontAlgn="auto" hangingPunct="1">
              <a:spcBef>
                <a:spcPct val="0"/>
              </a:spcBef>
              <a:buClr>
                <a:srgbClr val="666666"/>
              </a:buClr>
              <a:buFontTx/>
              <a:buAutoNum type="arabicPeriod"/>
              <a:defRPr/>
            </a:pPr>
            <a:r>
              <a:rPr lang="en-US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</a:rPr>
              <a:t>Homegrown Middleware Solutions</a:t>
            </a:r>
          </a:p>
          <a:p>
            <a:pPr algn="l" eaLnBrk="1" fontAlgn="auto" hangingPunct="1">
              <a:spcBef>
                <a:spcPct val="0"/>
              </a:spcBef>
              <a:buClr>
                <a:srgbClr val="666666"/>
              </a:buClr>
              <a:buFontTx/>
              <a:buAutoNum type="arabicPeriod"/>
              <a:defRPr/>
            </a:pPr>
            <a:endParaRPr lang="en-IN" sz="2600" dirty="0">
              <a:solidFill>
                <a:schemeClr val="tx1">
                  <a:lumMod val="65000"/>
                  <a:lumOff val="35000"/>
                </a:schemeClr>
              </a:solidFill>
              <a:latin typeface="Arial" charset="0"/>
              <a:cs typeface="Arial" charset="0"/>
              <a:sym typeface="Arial" charset="0"/>
            </a:endParaRPr>
          </a:p>
          <a:p>
            <a:pPr marL="357188" indent="-357188" algn="l" eaLnBrk="1" fontAlgn="auto" hangingPunct="1">
              <a:spcBef>
                <a:spcPct val="0"/>
              </a:spcBef>
              <a:buClr>
                <a:srgbClr val="666666"/>
              </a:buClr>
              <a:buFontTx/>
              <a:buAutoNum type="arabicPeriod"/>
              <a:defRPr/>
            </a:pPr>
            <a:r>
              <a:rPr 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</a:rPr>
              <a:t> </a:t>
            </a:r>
            <a:r>
              <a:rPr lang="en-US" sz="2600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</a:rPr>
              <a:t>C</a:t>
            </a:r>
            <a:r>
              <a:rPr 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</a:rPr>
              <a:t>ommon </a:t>
            </a:r>
            <a:r>
              <a:rPr lang="en-US" sz="2600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</a:rPr>
              <a:t>O</a:t>
            </a:r>
            <a:r>
              <a:rPr 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</a:rPr>
              <a:t>bject </a:t>
            </a:r>
            <a:r>
              <a:rPr lang="en-US" sz="2600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</a:rPr>
              <a:t>R</a:t>
            </a:r>
            <a:r>
              <a:rPr 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</a:rPr>
              <a:t>equest </a:t>
            </a:r>
            <a:r>
              <a:rPr lang="en-US" sz="2600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</a:rPr>
              <a:t>B</a:t>
            </a:r>
            <a:r>
              <a:rPr 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</a:rPr>
              <a:t>roker </a:t>
            </a:r>
            <a:r>
              <a:rPr lang="en-US" sz="2600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</a:rPr>
              <a:t>A</a:t>
            </a:r>
            <a:r>
              <a:rPr 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</a:rPr>
              <a:t>rchitecture </a:t>
            </a:r>
            <a:r>
              <a:rPr lang="en-IN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  <a:sym typeface="Arial" charset="0"/>
              </a:rPr>
              <a:t>CORBA.</a:t>
            </a:r>
          </a:p>
          <a:p>
            <a:pPr marL="357188" indent="-357188" algn="l" eaLnBrk="1" fontAlgn="auto" hangingPunct="1">
              <a:spcBef>
                <a:spcPct val="0"/>
              </a:spcBef>
              <a:buClr>
                <a:srgbClr val="666666"/>
              </a:buClr>
              <a:buFontTx/>
              <a:buAutoNum type="arabicPeriod"/>
              <a:defRPr/>
            </a:pPr>
            <a:endParaRPr lang="en-IN" sz="2600" dirty="0">
              <a:solidFill>
                <a:schemeClr val="tx1">
                  <a:lumMod val="65000"/>
                  <a:lumOff val="35000"/>
                </a:schemeClr>
              </a:solidFill>
              <a:latin typeface="Arial" charset="0"/>
              <a:cs typeface="Arial" charset="0"/>
              <a:sym typeface="Arial" charset="0"/>
            </a:endParaRPr>
          </a:p>
          <a:p>
            <a:pPr algn="just" eaLnBrk="1" fontAlgn="auto" hangingPunct="1">
              <a:spcBef>
                <a:spcPct val="0"/>
              </a:spcBef>
              <a:buClr>
                <a:srgbClr val="666666"/>
              </a:buClr>
              <a:defRPr/>
            </a:pPr>
            <a:endParaRPr lang="en-IN" sz="2800" dirty="0">
              <a:solidFill>
                <a:schemeClr val="tx1">
                  <a:lumMod val="65000"/>
                  <a:lumOff val="35000"/>
                </a:schemeClr>
              </a:solidFill>
              <a:latin typeface="Arial" charset="0"/>
              <a:cs typeface="Arial" charset="0"/>
              <a:sym typeface="Arial" charset="0"/>
            </a:endParaRPr>
          </a:p>
          <a:p>
            <a:pPr algn="just" eaLnBrk="1" fontAlgn="auto" hangingPunct="1">
              <a:spcBef>
                <a:spcPct val="0"/>
              </a:spcBef>
              <a:buClr>
                <a:srgbClr val="666666"/>
              </a:buClr>
              <a:defRPr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28675" name="Slide Number Placeholder 1">
            <a:extLst>
              <a:ext uri="{FF2B5EF4-FFF2-40B4-BE49-F238E27FC236}">
                <a16:creationId xmlns:a16="http://schemas.microsoft.com/office/drawing/2014/main" xmlns="" id="{A0D81CF9-8540-7562-B83D-83E73734692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7F7F7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BBD4A5-FBBF-4BE2-AD83-5765B33988B1}" type="slidenum">
              <a:rPr lang="en-US" altLang="en-US" sz="1200">
                <a:solidFill>
                  <a:srgbClr val="595959"/>
                </a:solidFill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92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92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Number Placeholder 6">
            <a:extLst>
              <a:ext uri="{FF2B5EF4-FFF2-40B4-BE49-F238E27FC236}">
                <a16:creationId xmlns:a16="http://schemas.microsoft.com/office/drawing/2014/main" xmlns="" id="{0C5AFF78-05CA-6CD3-66E1-D20111A279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7F7F7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0F435E7E-1906-4FF1-A4E1-A4865E12B438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xmlns="" id="{9FC97CAD-7E33-7247-A8A4-E51CD50A72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839200" cy="762000"/>
          </a:xfrm>
        </p:spPr>
        <p:txBody>
          <a:bodyPr/>
          <a:lstStyle/>
          <a:p>
            <a:pPr>
              <a:defRPr/>
            </a:pPr>
            <a:r>
              <a:rPr lang="en-US" altLang="en-US" sz="4400" dirty="0">
                <a:solidFill>
                  <a:srgbClr val="000000"/>
                </a:solidFill>
                <a:latin typeface="Arial" charset="0"/>
                <a:cs typeface="Arial" charset="0"/>
              </a:rPr>
              <a:t>Transaction Processing Monitors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xmlns="" id="{1B446723-DEFF-5840-A754-EE5E4A1377C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371600"/>
            <a:ext cx="8686800" cy="23622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Char char="ü"/>
              <a:defRPr/>
            </a:pPr>
            <a:r>
              <a:rPr lang="en-US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Transaction Processing Monitors are used to coordinate and monitor the processes from various application in a distributed environment.</a:t>
            </a:r>
          </a:p>
          <a:p>
            <a:pPr>
              <a:lnSpc>
                <a:spcPct val="90000"/>
              </a:lnSpc>
              <a:buFont typeface="Wingdings" pitchFamily="2" charset="2"/>
              <a:buChar char="ü"/>
              <a:defRPr/>
            </a:pPr>
            <a:endParaRPr lang="en-US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ü"/>
              <a:defRPr/>
            </a:pPr>
            <a:r>
              <a:rPr lang="en-US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Products: Tuxedo, IBM CICS, Microsoft Transaction Server</a:t>
            </a:r>
          </a:p>
          <a:p>
            <a:pPr lvl="1">
              <a:lnSpc>
                <a:spcPct val="90000"/>
              </a:lnSpc>
              <a:buFont typeface="ZapfDingbats" pitchFamily="82" charset="2"/>
              <a:buNone/>
              <a:defRPr/>
            </a:pPr>
            <a:r>
              <a:rPr lang="en-US" altLang="en-US" sz="1800" dirty="0"/>
              <a:t>	</a:t>
            </a:r>
          </a:p>
          <a:p>
            <a:pPr>
              <a:lnSpc>
                <a:spcPct val="90000"/>
              </a:lnSpc>
              <a:buFont typeface="ZapfDingbats" pitchFamily="82" charset="2"/>
              <a:buNone/>
              <a:defRPr/>
            </a:pPr>
            <a:endParaRPr lang="en-US" altLang="en-US" sz="1800" dirty="0"/>
          </a:p>
        </p:txBody>
      </p:sp>
      <p:sp>
        <p:nvSpPr>
          <p:cNvPr id="30724" name="Rectangle 22">
            <a:extLst>
              <a:ext uri="{FF2B5EF4-FFF2-40B4-BE49-F238E27FC236}">
                <a16:creationId xmlns:a16="http://schemas.microsoft.com/office/drawing/2014/main" xmlns="" id="{B10DD4F6-6270-5E3D-E161-5693B9317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038600"/>
            <a:ext cx="1066800" cy="762000"/>
          </a:xfrm>
          <a:prstGeom prst="rect">
            <a:avLst/>
          </a:prstGeom>
          <a:solidFill>
            <a:schemeClr val="folHlink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folHlink"/>
            </a:extrusionClr>
            <a:contourClr>
              <a:schemeClr val="folHlink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7F7F7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</a:rPr>
              <a:t>Client App</a:t>
            </a:r>
            <a:endParaRPr lang="en-US" altLang="en-US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5" name="AutoShape 23">
            <a:extLst>
              <a:ext uri="{FF2B5EF4-FFF2-40B4-BE49-F238E27FC236}">
                <a16:creationId xmlns:a16="http://schemas.microsoft.com/office/drawing/2014/main" xmlns="" id="{6891FCBD-A709-2FB4-AAAF-60BC36FE6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419600"/>
            <a:ext cx="990600" cy="2209800"/>
          </a:xfrm>
          <a:prstGeom prst="can">
            <a:avLst>
              <a:gd name="adj" fmla="val 55769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7F7F7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</a:rPr>
              <a:t>TPM</a:t>
            </a:r>
          </a:p>
        </p:txBody>
      </p:sp>
      <p:sp>
        <p:nvSpPr>
          <p:cNvPr id="30726" name="Rectangle 24">
            <a:extLst>
              <a:ext uri="{FF2B5EF4-FFF2-40B4-BE49-F238E27FC236}">
                <a16:creationId xmlns:a16="http://schemas.microsoft.com/office/drawing/2014/main" xmlns="" id="{14B69E89-F090-C20D-427F-3EC3FFC7C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4038600"/>
            <a:ext cx="838200" cy="609600"/>
          </a:xfrm>
          <a:prstGeom prst="rect">
            <a:avLst/>
          </a:prstGeom>
          <a:solidFill>
            <a:schemeClr val="folHlink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folHlink"/>
            </a:extrusionClr>
            <a:contourClr>
              <a:schemeClr val="folHlink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7F7F7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</a:rPr>
              <a:t>App1</a:t>
            </a:r>
          </a:p>
        </p:txBody>
      </p:sp>
      <p:sp>
        <p:nvSpPr>
          <p:cNvPr id="30727" name="Rectangle 25">
            <a:extLst>
              <a:ext uri="{FF2B5EF4-FFF2-40B4-BE49-F238E27FC236}">
                <a16:creationId xmlns:a16="http://schemas.microsoft.com/office/drawing/2014/main" xmlns="" id="{57BD4149-299E-FB77-82B0-92AFA4C8E8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5029200"/>
            <a:ext cx="838200" cy="609600"/>
          </a:xfrm>
          <a:prstGeom prst="rect">
            <a:avLst/>
          </a:prstGeom>
          <a:solidFill>
            <a:schemeClr val="folHlink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folHlink"/>
            </a:extrusionClr>
            <a:contourClr>
              <a:schemeClr val="folHlink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7F7F7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</a:rPr>
              <a:t>App2</a:t>
            </a:r>
          </a:p>
        </p:txBody>
      </p:sp>
      <p:sp>
        <p:nvSpPr>
          <p:cNvPr id="30728" name="Rectangle 26">
            <a:extLst>
              <a:ext uri="{FF2B5EF4-FFF2-40B4-BE49-F238E27FC236}">
                <a16:creationId xmlns:a16="http://schemas.microsoft.com/office/drawing/2014/main" xmlns="" id="{7693B20D-CD24-491E-5889-1B671352B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5943600"/>
            <a:ext cx="838200" cy="609600"/>
          </a:xfrm>
          <a:prstGeom prst="rect">
            <a:avLst/>
          </a:prstGeom>
          <a:solidFill>
            <a:schemeClr val="folHlink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folHlink"/>
            </a:extrusionClr>
            <a:contourClr>
              <a:schemeClr val="folHlink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7F7F7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</a:rPr>
              <a:t>App3</a:t>
            </a:r>
          </a:p>
        </p:txBody>
      </p:sp>
      <p:sp>
        <p:nvSpPr>
          <p:cNvPr id="30729" name="Line 27">
            <a:extLst>
              <a:ext uri="{FF2B5EF4-FFF2-40B4-BE49-F238E27FC236}">
                <a16:creationId xmlns:a16="http://schemas.microsoft.com/office/drawing/2014/main" xmlns="" id="{C2F96F8D-E1C3-4A99-7EA4-CC15390634CE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4343400"/>
            <a:ext cx="1371600" cy="6096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0" name="Line 28">
            <a:extLst>
              <a:ext uri="{FF2B5EF4-FFF2-40B4-BE49-F238E27FC236}">
                <a16:creationId xmlns:a16="http://schemas.microsoft.com/office/drawing/2014/main" xmlns="" id="{912FF47A-A36E-0B19-EFBC-3AC479C210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48200" y="4267200"/>
            <a:ext cx="182880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1" name="Line 29">
            <a:extLst>
              <a:ext uri="{FF2B5EF4-FFF2-40B4-BE49-F238E27FC236}">
                <a16:creationId xmlns:a16="http://schemas.microsoft.com/office/drawing/2014/main" xmlns="" id="{440844D5-4156-7403-1ABC-7C4D90C28DD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286000" y="4495800"/>
            <a:ext cx="1371600" cy="6096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2" name="Line 30">
            <a:extLst>
              <a:ext uri="{FF2B5EF4-FFF2-40B4-BE49-F238E27FC236}">
                <a16:creationId xmlns:a16="http://schemas.microsoft.com/office/drawing/2014/main" xmlns="" id="{8500B738-0A79-909B-222D-797B8AC2A7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48200" y="4419600"/>
            <a:ext cx="182880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3" name="Line 31">
            <a:extLst>
              <a:ext uri="{FF2B5EF4-FFF2-40B4-BE49-F238E27FC236}">
                <a16:creationId xmlns:a16="http://schemas.microsoft.com/office/drawing/2014/main" xmlns="" id="{9F434057-E83C-6956-F89F-D347D57BB89D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5410200"/>
            <a:ext cx="18288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4" name="Line 32">
            <a:extLst>
              <a:ext uri="{FF2B5EF4-FFF2-40B4-BE49-F238E27FC236}">
                <a16:creationId xmlns:a16="http://schemas.microsoft.com/office/drawing/2014/main" xmlns="" id="{015C3F03-1792-485A-DB4A-6399E97CD4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6096000"/>
            <a:ext cx="18288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5" name="Line 33">
            <a:extLst>
              <a:ext uri="{FF2B5EF4-FFF2-40B4-BE49-F238E27FC236}">
                <a16:creationId xmlns:a16="http://schemas.microsoft.com/office/drawing/2014/main" xmlns="" id="{ACB735FF-AB26-61D4-4D0D-7EC536B3CE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48200" y="5562600"/>
            <a:ext cx="18288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6" name="Line 34">
            <a:extLst>
              <a:ext uri="{FF2B5EF4-FFF2-40B4-BE49-F238E27FC236}">
                <a16:creationId xmlns:a16="http://schemas.microsoft.com/office/drawing/2014/main" xmlns="" id="{3E0F2AA7-779B-6E39-6AE4-249853389B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48200" y="6324600"/>
            <a:ext cx="18288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Number Placeholder 6">
            <a:extLst>
              <a:ext uri="{FF2B5EF4-FFF2-40B4-BE49-F238E27FC236}">
                <a16:creationId xmlns:a16="http://schemas.microsoft.com/office/drawing/2014/main" xmlns="" id="{F9404ED3-7F34-2794-0123-1F80BABF01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7F7F7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95110E14-2BD8-40CF-8AD8-255A36C90F24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xmlns="" id="{E01B1A03-4339-8340-8F1B-A943985F24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4325" y="76200"/>
            <a:ext cx="8229600" cy="685800"/>
          </a:xfrm>
        </p:spPr>
        <p:txBody>
          <a:bodyPr/>
          <a:lstStyle/>
          <a:p>
            <a:pPr>
              <a:defRPr/>
            </a:pPr>
            <a:r>
              <a:rPr lang="en-US" altLang="en-US" sz="4400" dirty="0">
                <a:solidFill>
                  <a:srgbClr val="000000"/>
                </a:solidFill>
                <a:latin typeface="Arial" charset="0"/>
                <a:cs typeface="Arial" charset="0"/>
              </a:rPr>
              <a:t>Homegrown Middleware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xmlns="" id="{3234B7F4-1269-AE4B-8180-64D74F0F5F8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371600"/>
            <a:ext cx="8321675" cy="5267325"/>
          </a:xfrm>
        </p:spPr>
        <p:txBody>
          <a:bodyPr/>
          <a:lstStyle/>
          <a:p>
            <a:pPr>
              <a:buFont typeface="Wingdings" pitchFamily="2" charset="2"/>
              <a:buChar char="ü"/>
              <a:defRPr/>
            </a:pPr>
            <a:r>
              <a:rPr lang="en-US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Customized to meet specific needs</a:t>
            </a:r>
          </a:p>
          <a:p>
            <a:pPr>
              <a:buFont typeface="Wingdings" pitchFamily="2" charset="2"/>
              <a:buChar char="ü"/>
              <a:defRPr/>
            </a:pPr>
            <a:r>
              <a:rPr lang="en-US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Needs substantial investments  </a:t>
            </a:r>
            <a:br>
              <a:rPr lang="en-US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</a:br>
            <a:endParaRPr lang="en-US" altLang="en-US" sz="2600" dirty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542925" indent="-336550">
              <a:buFont typeface="ZapfDingbats" pitchFamily="82" charset="2"/>
              <a:buNone/>
              <a:defRPr/>
            </a:pPr>
            <a:r>
              <a:rPr lang="en-US" altLang="en-US" sz="2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Pros</a:t>
            </a:r>
          </a:p>
          <a:p>
            <a:pPr marL="984250" indent="-349250">
              <a:defRPr/>
            </a:pPr>
            <a:r>
              <a:rPr lang="en-US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Can meet specific needs</a:t>
            </a:r>
          </a:p>
          <a:p>
            <a:pPr marL="673100" indent="-531813">
              <a:buFont typeface="ZapfDingbats" pitchFamily="82" charset="2"/>
              <a:buNone/>
              <a:defRPr/>
            </a:pPr>
            <a:r>
              <a:rPr lang="en-US" altLang="en-US" sz="2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Cons</a:t>
            </a:r>
          </a:p>
          <a:p>
            <a:pPr marL="984250" indent="-336550">
              <a:defRPr/>
            </a:pPr>
            <a:r>
              <a:rPr lang="en-US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Not cost effective</a:t>
            </a:r>
          </a:p>
          <a:p>
            <a:pPr marL="984250" indent="-336550">
              <a:defRPr/>
            </a:pPr>
            <a:r>
              <a:rPr lang="en-US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Lacks scalability</a:t>
            </a:r>
          </a:p>
          <a:p>
            <a:pPr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Number Placeholder 6">
            <a:extLst>
              <a:ext uri="{FF2B5EF4-FFF2-40B4-BE49-F238E27FC236}">
                <a16:creationId xmlns:a16="http://schemas.microsoft.com/office/drawing/2014/main" xmlns="" id="{F7BA1436-17D9-CDCB-786F-C89534CC98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7F7F7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06AE3785-980F-4F7A-9229-686EE4A680D2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xmlns="" id="{09236B26-501B-9648-9022-7BCC6BE53B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1800" y="100013"/>
            <a:ext cx="8229600" cy="914400"/>
          </a:xfrm>
        </p:spPr>
        <p:txBody>
          <a:bodyPr/>
          <a:lstStyle/>
          <a:p>
            <a:pPr>
              <a:defRPr/>
            </a:pPr>
            <a:r>
              <a:rPr lang="en-US" altLang="en-US" sz="4400" dirty="0">
                <a:solidFill>
                  <a:srgbClr val="000000"/>
                </a:solidFill>
                <a:latin typeface="Arial" charset="0"/>
                <a:cs typeface="Arial" charset="0"/>
              </a:rPr>
              <a:t>Message Oriented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xmlns="" id="{AEF4F075-5E25-1441-B43C-79EE475BEB7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1081088"/>
            <a:ext cx="8839200" cy="5275262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Char char="ü"/>
              <a:defRPr/>
            </a:pPr>
            <a:r>
              <a:rPr lang="en-US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Data is transferred between applications as a message</a:t>
            </a:r>
          </a:p>
          <a:p>
            <a:pPr>
              <a:lnSpc>
                <a:spcPct val="80000"/>
              </a:lnSpc>
              <a:buFont typeface="Wingdings" pitchFamily="2" charset="2"/>
              <a:buChar char="ü"/>
              <a:defRPr/>
            </a:pPr>
            <a:r>
              <a:rPr lang="en-US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Mode Of Communication : Asynchronous</a:t>
            </a:r>
          </a:p>
          <a:p>
            <a:pPr>
              <a:lnSpc>
                <a:spcPct val="80000"/>
              </a:lnSpc>
              <a:buFont typeface="Wingdings" pitchFamily="2" charset="2"/>
              <a:buChar char="ü"/>
              <a:defRPr/>
            </a:pPr>
            <a:r>
              <a:rPr lang="en-US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Basic Components of MOM</a:t>
            </a:r>
          </a:p>
          <a:p>
            <a:pPr>
              <a:lnSpc>
                <a:spcPct val="80000"/>
              </a:lnSpc>
              <a:buFont typeface="ZapfDingbats" pitchFamily="82" charset="2"/>
              <a:buNone/>
              <a:defRPr/>
            </a:pPr>
            <a:r>
              <a:rPr lang="en-US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	  1.Message (Information that needs to be transferred)</a:t>
            </a:r>
          </a:p>
          <a:p>
            <a:pPr marL="582613" indent="-582613">
              <a:lnSpc>
                <a:spcPct val="80000"/>
              </a:lnSpc>
              <a:buFont typeface="ZapfDingbats" pitchFamily="82" charset="2"/>
              <a:buNone/>
              <a:defRPr/>
            </a:pPr>
            <a:r>
              <a:rPr lang="en-US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	  2.Queue (A container used to store and distribute    messages)</a:t>
            </a:r>
          </a:p>
          <a:p>
            <a:pPr marL="582613" indent="-582613">
              <a:lnSpc>
                <a:spcPct val="80000"/>
              </a:lnSpc>
              <a:buFont typeface="ZapfDingbats" pitchFamily="82" charset="2"/>
              <a:buNone/>
              <a:defRPr/>
            </a:pPr>
            <a:endParaRPr lang="en-US" altLang="en-US" sz="2600" dirty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Char char="ü"/>
              <a:defRPr/>
            </a:pPr>
            <a:r>
              <a:rPr lang="en-US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Types Of MOM</a:t>
            </a:r>
          </a:p>
          <a:p>
            <a:pPr>
              <a:lnSpc>
                <a:spcPct val="80000"/>
              </a:lnSpc>
              <a:buFont typeface="ZapfDingbats" pitchFamily="82" charset="2"/>
              <a:buNone/>
              <a:defRPr/>
            </a:pPr>
            <a:r>
              <a:rPr lang="en-US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		1. Message Queuing (Store and Forward)</a:t>
            </a:r>
          </a:p>
          <a:p>
            <a:pPr>
              <a:lnSpc>
                <a:spcPct val="80000"/>
              </a:lnSpc>
              <a:buFont typeface="ZapfDingbats" pitchFamily="82" charset="2"/>
              <a:buNone/>
              <a:defRPr/>
            </a:pPr>
            <a:r>
              <a:rPr lang="en-US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		2. Publish / Subscribe</a:t>
            </a:r>
          </a:p>
          <a:p>
            <a:pPr>
              <a:lnSpc>
                <a:spcPct val="80000"/>
              </a:lnSpc>
              <a:buFont typeface="ZapfDingbats" pitchFamily="82" charset="2"/>
              <a:buNone/>
              <a:defRPr/>
            </a:pPr>
            <a:endParaRPr lang="en-US" altLang="en-US" sz="2600" dirty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Char char="ü"/>
              <a:defRPr/>
            </a:pPr>
            <a:r>
              <a:rPr lang="en-US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Products: IBM WebSphere MQ, TIBCO Rendezvous </a:t>
            </a:r>
          </a:p>
          <a:p>
            <a:pPr>
              <a:lnSpc>
                <a:spcPct val="80000"/>
              </a:lnSpc>
              <a:buFont typeface="ZapfDingbats" pitchFamily="82" charset="2"/>
              <a:buNone/>
              <a:defRPr/>
            </a:pPr>
            <a:endParaRPr lang="en-US" altLang="en-US" sz="2000" dirty="0"/>
          </a:p>
          <a:p>
            <a:pPr lvl="1">
              <a:lnSpc>
                <a:spcPct val="80000"/>
              </a:lnSpc>
              <a:buFont typeface="ZapfDingbats" pitchFamily="82" charset="2"/>
              <a:buNone/>
              <a:defRPr/>
            </a:pPr>
            <a:r>
              <a:rPr lang="en-US" altLang="en-US" sz="2000" dirty="0"/>
              <a:t>	</a:t>
            </a:r>
          </a:p>
          <a:p>
            <a:pPr>
              <a:lnSpc>
                <a:spcPct val="80000"/>
              </a:lnSpc>
              <a:buFont typeface="ZapfDingbats" pitchFamily="82" charset="2"/>
              <a:buNone/>
              <a:defRPr/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Number Placeholder 6">
            <a:extLst>
              <a:ext uri="{FF2B5EF4-FFF2-40B4-BE49-F238E27FC236}">
                <a16:creationId xmlns:a16="http://schemas.microsoft.com/office/drawing/2014/main" xmlns="" id="{C8FB8B38-B824-57E1-7239-62556C8F657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7F7F7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5CBFD0B4-9DC1-48AA-96CE-CCDCB1F05FFD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xmlns="" id="{BDB93DF7-5B39-6048-8997-A54D4AC044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3238" y="482600"/>
            <a:ext cx="8229600" cy="990600"/>
          </a:xfrm>
        </p:spPr>
        <p:txBody>
          <a:bodyPr/>
          <a:lstStyle/>
          <a:p>
            <a:pPr>
              <a:defRPr/>
            </a:pPr>
            <a:r>
              <a:rPr lang="en-US" altLang="en-US" sz="4400" dirty="0">
                <a:solidFill>
                  <a:srgbClr val="000000"/>
                </a:solidFill>
                <a:latin typeface="Arial" charset="0"/>
                <a:cs typeface="Arial" charset="0"/>
              </a:rPr>
              <a:t>Remote Procedure calls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xmlns="" id="{2D5B079E-54E7-2E40-8350-7B2ED87DAA5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0" y="1473200"/>
            <a:ext cx="9105900" cy="5267325"/>
          </a:xfrm>
        </p:spPr>
        <p:txBody>
          <a:bodyPr/>
          <a:lstStyle/>
          <a:p>
            <a:pPr>
              <a:buFont typeface="Wingdings" pitchFamily="2" charset="2"/>
              <a:buChar char="ü"/>
              <a:defRPr/>
            </a:pPr>
            <a:r>
              <a:rPr lang="en-US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Procedure/Function Oriented</a:t>
            </a:r>
          </a:p>
          <a:p>
            <a:pPr>
              <a:buFont typeface="Wingdings" pitchFamily="2" charset="2"/>
              <a:buChar char="ü"/>
              <a:defRPr/>
            </a:pPr>
            <a:r>
              <a:rPr lang="en-US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Follows the Request/Reply Model</a:t>
            </a:r>
          </a:p>
          <a:p>
            <a:pPr>
              <a:buFont typeface="Wingdings" pitchFamily="2" charset="2"/>
              <a:buChar char="ü"/>
              <a:defRPr/>
            </a:pPr>
            <a:r>
              <a:rPr lang="en-US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Mode of Communication is synchronous</a:t>
            </a:r>
          </a:p>
          <a:p>
            <a:pPr>
              <a:buFont typeface="Wingdings" pitchFamily="2" charset="2"/>
              <a:buChar char="ü"/>
              <a:defRPr/>
            </a:pPr>
            <a:r>
              <a:rPr lang="en-US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Provides Location/Platform transparency</a:t>
            </a:r>
          </a:p>
          <a:p>
            <a:pPr>
              <a:buFont typeface="Wingdings" pitchFamily="2" charset="2"/>
              <a:buChar char="ü"/>
              <a:defRPr/>
            </a:pPr>
            <a:r>
              <a:rPr lang="en-US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rPr>
              <a:t>Technologies: ONC RPC, DCE/RPC</a:t>
            </a:r>
          </a:p>
          <a:p>
            <a:pPr>
              <a:buFont typeface="ZapfDingbats" pitchFamily="82" charset="2"/>
              <a:buNone/>
              <a:defRPr/>
            </a:pPr>
            <a:endParaRPr lang="en-US" altLang="en-US" sz="2000" dirty="0"/>
          </a:p>
        </p:txBody>
      </p:sp>
      <p:pic>
        <p:nvPicPr>
          <p:cNvPr id="36868" name="Picture 5" descr="image">
            <a:extLst>
              <a:ext uri="{FF2B5EF4-FFF2-40B4-BE49-F238E27FC236}">
                <a16:creationId xmlns:a16="http://schemas.microsoft.com/office/drawing/2014/main" xmlns="" id="{EEEEC275-38E7-E6FB-01BC-BDBDCF05CC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6025" y="3824288"/>
            <a:ext cx="3571875" cy="272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Shape 84">
            <a:extLst>
              <a:ext uri="{FF2B5EF4-FFF2-40B4-BE49-F238E27FC236}">
                <a16:creationId xmlns:a16="http://schemas.microsoft.com/office/drawing/2014/main" xmlns="" id="{333B32D6-797F-224A-B5CE-680E5B9C58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549275"/>
            <a:ext cx="7772400" cy="1200150"/>
          </a:xfrm>
        </p:spPr>
        <p:txBody>
          <a:bodyPr>
            <a:spAutoFit/>
          </a:bodyPr>
          <a:lstStyle/>
          <a:p>
            <a:pPr algn="l" eaLnBrk="1" fontAlgn="auto" hangingPunct="1"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3600" dirty="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rPr>
              <a:t>Common Object Request Broker Architecture (CORBA) </a:t>
            </a:r>
            <a:endParaRPr lang="en-US" sz="4400" dirty="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10242" name="Shape 83">
            <a:extLst>
              <a:ext uri="{FF2B5EF4-FFF2-40B4-BE49-F238E27FC236}">
                <a16:creationId xmlns:a16="http://schemas.microsoft.com/office/drawing/2014/main" xmlns="" id="{64EF9308-F27B-074A-87A0-A59BB6199F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" y="1752600"/>
            <a:ext cx="8610600" cy="5632450"/>
          </a:xfrm>
        </p:spPr>
        <p:txBody>
          <a:bodyPr rtlCol="0">
            <a:spAutoFit/>
          </a:bodyPr>
          <a:lstStyle/>
          <a:p>
            <a:pPr marL="457200" indent="-457200" algn="l" eaLnBrk="1" fontAlgn="auto" hangingPunct="1">
              <a:spcBef>
                <a:spcPct val="0"/>
              </a:spcBef>
              <a:buClr>
                <a:srgbClr val="666666"/>
              </a:buClr>
              <a:buFont typeface="Wingdings" pitchFamily="2" charset="2"/>
              <a:buChar char="§"/>
              <a:defRPr/>
            </a:pPr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  <a:sym typeface="Arial" charset="0"/>
              </a:rPr>
              <a:t>Driven by Microsoft and Object Management Group (OMG).</a:t>
            </a:r>
          </a:p>
          <a:p>
            <a:pPr marL="457200" indent="-457200" algn="l" eaLnBrk="1" fontAlgn="auto" hangingPunct="1">
              <a:spcBef>
                <a:spcPct val="0"/>
              </a:spcBef>
              <a:buClr>
                <a:srgbClr val="666666"/>
              </a:buClr>
              <a:buFont typeface="Wingdings" pitchFamily="2" charset="2"/>
              <a:buChar char="§"/>
              <a:defRPr/>
            </a:pPr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  <a:sym typeface="Arial" charset="0"/>
              </a:rPr>
              <a:t>It’s a standard architecture for distributed object systems.</a:t>
            </a:r>
          </a:p>
          <a:p>
            <a:pPr marL="457200" indent="-457200" algn="l" eaLnBrk="1" fontAlgn="auto" hangingPunct="1">
              <a:spcBef>
                <a:spcPct val="0"/>
              </a:spcBef>
              <a:buClr>
                <a:srgbClr val="666666"/>
              </a:buClr>
              <a:buFont typeface="Wingdings" pitchFamily="2" charset="2"/>
              <a:buChar char="§"/>
              <a:defRPr/>
            </a:pPr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  <a:sym typeface="Arial" charset="0"/>
              </a:rPr>
              <a:t>It allows distributed, heterogeneous collection of object to interoperate.</a:t>
            </a:r>
          </a:p>
          <a:p>
            <a:pPr marL="457200" indent="-457200" algn="l" eaLnBrk="1" fontAlgn="auto" hangingPunct="1">
              <a:spcBef>
                <a:spcPct val="0"/>
              </a:spcBef>
              <a:buClr>
                <a:srgbClr val="666666"/>
              </a:buClr>
              <a:buFont typeface="Wingdings" pitchFamily="2" charset="2"/>
              <a:buChar char="§"/>
              <a:defRPr/>
            </a:pPr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  <a:sym typeface="Arial" charset="0"/>
              </a:rPr>
              <a:t>The concepts are defined in such a way that they can be mapped to a number of programming languages.</a:t>
            </a:r>
          </a:p>
          <a:p>
            <a:pPr marL="457200" indent="-457200" algn="l" eaLnBrk="1" fontAlgn="auto" hangingPunct="1">
              <a:spcBef>
                <a:spcPct val="0"/>
              </a:spcBef>
              <a:buClr>
                <a:srgbClr val="666666"/>
              </a:buClr>
              <a:buFont typeface="Wingdings" pitchFamily="2" charset="2"/>
              <a:buChar char="§"/>
              <a:defRPr/>
            </a:pPr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  <a:sym typeface="Arial" charset="0"/>
              </a:rPr>
              <a:t>It does not include language constructs to store variables or to express algorithms.</a:t>
            </a:r>
          </a:p>
          <a:p>
            <a:pPr marL="457200" indent="-457200" algn="just" eaLnBrk="1" fontAlgn="auto" hangingPunct="1">
              <a:spcBef>
                <a:spcPct val="0"/>
              </a:spcBef>
              <a:buClr>
                <a:srgbClr val="666666"/>
              </a:buClr>
              <a:buFont typeface="Wingdings" pitchFamily="2" charset="2"/>
              <a:buChar char="§"/>
              <a:defRPr/>
            </a:pPr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  <a:latin typeface="Arial" charset="0"/>
              <a:cs typeface="Arial" charset="0"/>
              <a:sym typeface="Arial" charset="0"/>
            </a:endParaRPr>
          </a:p>
          <a:p>
            <a:pPr marL="457200" indent="-457200" algn="just" eaLnBrk="1" fontAlgn="auto" hangingPunct="1">
              <a:spcBef>
                <a:spcPct val="0"/>
              </a:spcBef>
              <a:buClr>
                <a:srgbClr val="666666"/>
              </a:buClr>
              <a:buFont typeface="Wingdings" pitchFamily="2" charset="2"/>
              <a:buChar char="§"/>
              <a:defRPr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38915" name="Slide Number Placeholder 1">
            <a:extLst>
              <a:ext uri="{FF2B5EF4-FFF2-40B4-BE49-F238E27FC236}">
                <a16:creationId xmlns:a16="http://schemas.microsoft.com/office/drawing/2014/main" xmlns="" id="{0AC0EC16-F78C-3453-94F9-63B40773FF7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7F7F7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515C075-083E-4ABB-8125-AB92EAB10E1D}" type="slidenum">
              <a:rPr lang="en-US" altLang="en-US" sz="1200">
                <a:solidFill>
                  <a:srgbClr val="595959"/>
                </a:solidFill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Shape 96">
            <a:extLst>
              <a:ext uri="{FF2B5EF4-FFF2-40B4-BE49-F238E27FC236}">
                <a16:creationId xmlns:a16="http://schemas.microsoft.com/office/drawing/2014/main" xmlns="" id="{9828B95F-2FDC-5646-8AA0-ECC8F60EAE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373063"/>
            <a:ext cx="7772400" cy="769937"/>
          </a:xfrm>
        </p:spPr>
        <p:txBody>
          <a:bodyPr>
            <a:spAutoFit/>
          </a:bodyPr>
          <a:lstStyle/>
          <a:p>
            <a:pPr algn="l" eaLnBrk="1" fontAlgn="auto" hangingPunct="1"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4400" dirty="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rPr>
              <a:t> CORBA </a:t>
            </a:r>
            <a:r>
              <a:rPr 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  <a:sym typeface="Arial" charset="0"/>
              </a:rPr>
              <a:t>(Contd…) </a:t>
            </a:r>
            <a:endParaRPr lang="en-US" sz="4400" dirty="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12290" name="Shape 95">
            <a:extLst>
              <a:ext uri="{FF2B5EF4-FFF2-40B4-BE49-F238E27FC236}">
                <a16:creationId xmlns:a16="http://schemas.microsoft.com/office/drawing/2014/main" xmlns="" id="{C55BACB4-CE35-2048-BEAF-D664EA02C6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327150"/>
            <a:ext cx="4229100" cy="3046413"/>
          </a:xfrm>
        </p:spPr>
        <p:txBody>
          <a:bodyPr rtlCol="0">
            <a:spAutoFit/>
          </a:bodyPr>
          <a:lstStyle/>
          <a:p>
            <a:pPr marL="457200" indent="-457200" algn="l" eaLnBrk="1" fontAlgn="auto" hangingPunct="1">
              <a:spcBef>
                <a:spcPct val="0"/>
              </a:spcBef>
              <a:buClr>
                <a:srgbClr val="666666"/>
              </a:buClr>
              <a:buFont typeface="Wingdings" pitchFamily="2" charset="2"/>
              <a:buChar char="§"/>
              <a:defRPr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  <a:sym typeface="Arial" charset="0"/>
              </a:rPr>
              <a:t>The Interface Definition Language (IDL) is designed to be independent of a particular programming language, though its syntax is oriented towards C++.</a:t>
            </a:r>
          </a:p>
        </p:txBody>
      </p:sp>
      <p:pic>
        <p:nvPicPr>
          <p:cNvPr id="40963" name="Picture 2" descr="C:\Users\Sudipta\Desktop\Middleware\Programming Language Bindings to CORBA.jpg">
            <a:extLst>
              <a:ext uri="{FF2B5EF4-FFF2-40B4-BE49-F238E27FC236}">
                <a16:creationId xmlns:a16="http://schemas.microsoft.com/office/drawing/2014/main" xmlns="" id="{8D8A9910-C66C-2444-04B3-009C9B4B6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143000"/>
            <a:ext cx="369570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4" name="Shape 95">
            <a:extLst>
              <a:ext uri="{FF2B5EF4-FFF2-40B4-BE49-F238E27FC236}">
                <a16:creationId xmlns:a16="http://schemas.microsoft.com/office/drawing/2014/main" xmlns="" id="{E49B1418-2168-B36A-F4B5-D33B43EA5A0D}"/>
              </a:ext>
            </a:extLst>
          </p:cNvPr>
          <p:cNvSpPr txBox="1">
            <a:spLocks/>
          </p:cNvSpPr>
          <p:nvPr/>
        </p:nvSpPr>
        <p:spPr bwMode="auto">
          <a:xfrm>
            <a:off x="495300" y="4373563"/>
            <a:ext cx="8491537" cy="206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7F7F7F"/>
                </a:solidFill>
                <a:latin typeface="Century Gothic" panose="020B0502020202020204" pitchFamily="34" charset="0"/>
              </a:defRPr>
            </a:lvl1pPr>
            <a:lvl2pPr marL="742950" indent="19050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2pPr>
            <a:lvl3pPr marL="1143000" indent="1905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3pPr>
            <a:lvl4pPr marL="1600200" indent="19050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4pPr>
            <a:lvl5pPr marL="2057400" indent="1905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5pPr>
            <a:lvl6pPr marL="2514600" indent="1905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6pPr>
            <a:lvl7pPr marL="2971800" indent="1905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7pPr>
            <a:lvl8pPr marL="3429000" indent="1905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8pPr>
            <a:lvl9pPr marL="3886200" indent="1905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>
                <a:srgbClr val="2F5897"/>
              </a:buClr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rgbClr val="595959"/>
                </a:solidFill>
                <a:latin typeface="Arial" panose="020B0604020202020204" pitchFamily="34" charset="0"/>
              </a:rPr>
              <a:t>CORBA defines bindings to: C, C++, Smalltalk, Ada, Java and Cobol. These programming language binding  determines how object type operations are implemented in server object and how client can make object request.</a:t>
            </a:r>
          </a:p>
          <a:p>
            <a:pPr algn="just">
              <a:spcBef>
                <a:spcPct val="0"/>
              </a:spcBef>
              <a:buClr>
                <a:srgbClr val="2F5897"/>
              </a:buClr>
              <a:buFont typeface="Wingdings" panose="05000000000000000000" pitchFamily="2" charset="2"/>
              <a:buChar char="§"/>
            </a:pPr>
            <a:endParaRPr lang="en-US" altLang="en-US" sz="2600" dirty="0">
              <a:solidFill>
                <a:srgbClr val="595959"/>
              </a:solidFill>
              <a:latin typeface="Arial" panose="020B0604020202020204" pitchFamily="34" charset="0"/>
            </a:endParaRPr>
          </a:p>
        </p:txBody>
      </p:sp>
      <p:sp>
        <p:nvSpPr>
          <p:cNvPr id="40965" name="Slide Number Placeholder 1">
            <a:extLst>
              <a:ext uri="{FF2B5EF4-FFF2-40B4-BE49-F238E27FC236}">
                <a16:creationId xmlns:a16="http://schemas.microsoft.com/office/drawing/2014/main" xmlns="" id="{40EC203A-1E3C-4407-C969-53669304077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7F7F7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FB8A8A4-FA2F-4B70-93CF-A7924FC56255}" type="slidenum">
              <a:rPr lang="en-US" altLang="en-US" sz="1200">
                <a:solidFill>
                  <a:srgbClr val="595959"/>
                </a:solidFill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Shape 102">
            <a:extLst>
              <a:ext uri="{FF2B5EF4-FFF2-40B4-BE49-F238E27FC236}">
                <a16:creationId xmlns:a16="http://schemas.microsoft.com/office/drawing/2014/main" xmlns="" id="{57AC1668-120D-0744-A261-0AAEAEF2F0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395287"/>
            <a:ext cx="7772400" cy="769938"/>
          </a:xfrm>
        </p:spPr>
        <p:txBody>
          <a:bodyPr>
            <a:spAutoFit/>
          </a:bodyPr>
          <a:lstStyle/>
          <a:p>
            <a:pPr algn="l" eaLnBrk="1" fontAlgn="auto" hangingPunct="1"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4400" dirty="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rPr>
              <a:t>Component of CORBA </a:t>
            </a:r>
          </a:p>
        </p:txBody>
      </p:sp>
      <p:sp>
        <p:nvSpPr>
          <p:cNvPr id="12290" name="Shape 101">
            <a:extLst>
              <a:ext uri="{FF2B5EF4-FFF2-40B4-BE49-F238E27FC236}">
                <a16:creationId xmlns:a16="http://schemas.microsoft.com/office/drawing/2014/main" xmlns="" id="{69D3E163-4A17-C842-A686-05C0F8D470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219200"/>
            <a:ext cx="8305800" cy="5448300"/>
          </a:xfrm>
        </p:spPr>
        <p:txBody>
          <a:bodyPr rtlCol="0">
            <a:spAutoFit/>
          </a:bodyPr>
          <a:lstStyle/>
          <a:p>
            <a:pPr marL="457200" indent="-457200" algn="just" eaLnBrk="1" fontAlgn="auto" hangingPunct="1">
              <a:spcBef>
                <a:spcPct val="0"/>
              </a:spcBef>
              <a:buClr>
                <a:srgbClr val="666666"/>
              </a:buClr>
              <a:buFont typeface="Wingdings" pitchFamily="2" charset="2"/>
              <a:buChar char="§"/>
              <a:defRPr/>
            </a:pPr>
            <a:r>
              <a:rPr lang="en-US" sz="2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cs typeface="Arial" charset="0"/>
                <a:sym typeface="Arial" charset="0"/>
              </a:rPr>
              <a:t>Client Stubs</a:t>
            </a:r>
            <a:r>
              <a:rPr lang="en-US" sz="2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cs typeface="Arial" charset="0"/>
                <a:sym typeface="Arial" charset="0"/>
              </a:rPr>
              <a:t>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  <a:sym typeface="Arial" charset="0"/>
              </a:rPr>
              <a:t>create and issue requests on the client side.</a:t>
            </a:r>
          </a:p>
          <a:p>
            <a:pPr marL="457200" indent="-457200" algn="just" eaLnBrk="1" fontAlgn="auto" hangingPunct="1">
              <a:spcBef>
                <a:spcPct val="0"/>
              </a:spcBef>
              <a:buClr>
                <a:srgbClr val="666666"/>
              </a:buClr>
              <a:buFont typeface="Wingdings" pitchFamily="2" charset="2"/>
              <a:buChar char="§"/>
              <a:defRPr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  <a:sym typeface="Arial" charset="0"/>
              </a:rPr>
              <a:t>Dynamic invocation is done by </a:t>
            </a:r>
            <a:r>
              <a:rPr lang="en-US" sz="2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cs typeface="Arial" charset="0"/>
                <a:sym typeface="Arial" charset="0"/>
              </a:rPr>
              <a:t>Dynamic Invocation Interface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  <a:sym typeface="Arial" charset="0"/>
              </a:rPr>
              <a:t>, Here control is recursively given back to the client object until it  polls for operation result.</a:t>
            </a:r>
          </a:p>
          <a:p>
            <a:pPr marL="457200" indent="-457200" algn="just" eaLnBrk="1" fontAlgn="auto" hangingPunct="1">
              <a:spcBef>
                <a:spcPct val="0"/>
              </a:spcBef>
              <a:buClr>
                <a:srgbClr val="666666"/>
              </a:buClr>
              <a:buFont typeface="Wingdings" pitchFamily="2" charset="2"/>
              <a:buChar char="§"/>
              <a:defRPr/>
            </a:pPr>
            <a:r>
              <a:rPr lang="en-US" sz="2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cs typeface="Arial" charset="0"/>
                <a:sym typeface="Arial" charset="0"/>
              </a:rPr>
              <a:t>ORB Interface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  <a:sym typeface="Arial" charset="0"/>
              </a:rPr>
              <a:t>Interact between Object Request Broker(ORB Core), Client and Server Objects at run time .</a:t>
            </a:r>
          </a:p>
          <a:p>
            <a:pPr marL="457200" indent="-457200" algn="just" eaLnBrk="1" fontAlgn="auto" hangingPunct="1">
              <a:spcBef>
                <a:spcPct val="0"/>
              </a:spcBef>
              <a:buClr>
                <a:srgbClr val="666666"/>
              </a:buClr>
              <a:buFont typeface="Wingdings" pitchFamily="2" charset="2"/>
              <a:buChar char="§"/>
              <a:defRPr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  <a:sym typeface="Arial" charset="0"/>
              </a:rPr>
              <a:t>ORB activate the object using </a:t>
            </a:r>
            <a:r>
              <a:rPr lang="en-US" sz="2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cs typeface="Arial" charset="0"/>
                <a:sym typeface="Arial" charset="0"/>
              </a:rPr>
              <a:t>Object Adapter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cs typeface="Arial" charset="0"/>
                <a:sym typeface="Arial" charset="0"/>
              </a:rPr>
              <a:t>.</a:t>
            </a:r>
          </a:p>
          <a:p>
            <a:pPr marL="457200" indent="-457200" algn="just" eaLnBrk="1" fontAlgn="auto" hangingPunct="1">
              <a:spcBef>
                <a:spcPct val="0"/>
              </a:spcBef>
              <a:buClr>
                <a:srgbClr val="666666"/>
              </a:buClr>
              <a:buFont typeface="Wingdings" pitchFamily="2" charset="2"/>
              <a:buChar char="§"/>
              <a:defRPr/>
            </a:pPr>
            <a:r>
              <a:rPr lang="en-US" sz="2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cs typeface="Arial" charset="0"/>
                <a:sym typeface="Arial" charset="0"/>
              </a:rPr>
              <a:t>Implementation Skeletons</a:t>
            </a:r>
            <a:r>
              <a:rPr lang="en-US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cs typeface="Arial" charset="0"/>
                <a:sym typeface="Arial" charset="0"/>
              </a:rPr>
              <a:t>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cs typeface="Arial" charset="0"/>
                <a:sym typeface="Arial" charset="0"/>
              </a:rPr>
              <a:t>receive and forward requests to objects on the server side. The skeleton finally calls the operation that was requested by the client. </a:t>
            </a:r>
          </a:p>
          <a:p>
            <a:pPr marL="457200" indent="-457200" algn="just" eaLnBrk="1" fontAlgn="auto" hangingPunct="1">
              <a:spcBef>
                <a:spcPct val="0"/>
              </a:spcBef>
              <a:buClr>
                <a:srgbClr val="666666"/>
              </a:buClr>
              <a:buFont typeface="Wingdings" pitchFamily="2" charset="2"/>
              <a:buChar char="§"/>
              <a:defRPr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43011" name="Slide Number Placeholder 1">
            <a:extLst>
              <a:ext uri="{FF2B5EF4-FFF2-40B4-BE49-F238E27FC236}">
                <a16:creationId xmlns:a16="http://schemas.microsoft.com/office/drawing/2014/main" xmlns="" id="{55FF5FF9-3C0B-49E7-B254-FF23094C72F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rgbClr val="7F7F7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Font typeface="Courier New" panose="02070309020205020404" pitchFamily="49" charset="0"/>
              <a:buChar char="o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>
                <a:solidFill>
                  <a:srgbClr val="7F7F7F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171AE82-E8E6-4962-9D50-A7F596FC144C}" type="slidenum">
              <a:rPr lang="en-US" altLang="en-US" sz="1200">
                <a:solidFill>
                  <a:srgbClr val="595959"/>
                </a:solidFill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cut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890</TotalTime>
  <Words>639</Words>
  <Application>Microsoft Office PowerPoint</Application>
  <PresentationFormat>عرض على الشاشة (3:4)‏</PresentationFormat>
  <Paragraphs>119</Paragraphs>
  <Slides>14</Slides>
  <Notes>14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14</vt:i4>
      </vt:variant>
    </vt:vector>
  </HeadingPairs>
  <TitlesOfParts>
    <vt:vector size="15" baseType="lpstr">
      <vt:lpstr>Executive</vt:lpstr>
      <vt:lpstr>عرض تقديمي في PowerPoint</vt:lpstr>
      <vt:lpstr>Middleware Emergence</vt:lpstr>
      <vt:lpstr>N-tier architecture</vt:lpstr>
      <vt:lpstr>  Introduction </vt:lpstr>
      <vt:lpstr> Need of Middleware </vt:lpstr>
      <vt:lpstr>Middleware Basics </vt:lpstr>
      <vt:lpstr>Categories of Middleware </vt:lpstr>
      <vt:lpstr>Transaction Processing Monitors</vt:lpstr>
      <vt:lpstr>Homegrown Middleware</vt:lpstr>
      <vt:lpstr>Message Oriented</vt:lpstr>
      <vt:lpstr>Remote Procedure calls</vt:lpstr>
      <vt:lpstr>Common Object Request Broker Architecture (CORBA) </vt:lpstr>
      <vt:lpstr> CORBA (Contd…) </vt:lpstr>
      <vt:lpstr>Component of CORBA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Sudipta</dc:creator>
  <cp:lastModifiedBy>Maher</cp:lastModifiedBy>
  <cp:revision>104</cp:revision>
  <dcterms:modified xsi:type="dcterms:W3CDTF">2025-04-21T04:26:36Z</dcterms:modified>
</cp:coreProperties>
</file>